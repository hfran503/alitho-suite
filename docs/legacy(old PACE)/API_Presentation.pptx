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Override1.xml" ContentType="application/vnd.openxmlformats-officedocument.themeOverride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2" r:id="rId1"/>
  </p:sldMasterIdLst>
  <p:notesMasterIdLst>
    <p:notesMasterId r:id="rId34"/>
  </p:notesMasterIdLst>
  <p:handoutMasterIdLst>
    <p:handoutMasterId r:id="rId35"/>
  </p:handoutMasterIdLst>
  <p:sldIdLst>
    <p:sldId id="256" r:id="rId2"/>
    <p:sldId id="271" r:id="rId3"/>
    <p:sldId id="363" r:id="rId4"/>
    <p:sldId id="358" r:id="rId5"/>
    <p:sldId id="323" r:id="rId6"/>
    <p:sldId id="374" r:id="rId7"/>
    <p:sldId id="375" r:id="rId8"/>
    <p:sldId id="376" r:id="rId9"/>
    <p:sldId id="367" r:id="rId10"/>
    <p:sldId id="377" r:id="rId11"/>
    <p:sldId id="378" r:id="rId12"/>
    <p:sldId id="379" r:id="rId13"/>
    <p:sldId id="383" r:id="rId14"/>
    <p:sldId id="384" r:id="rId15"/>
    <p:sldId id="380" r:id="rId16"/>
    <p:sldId id="381" r:id="rId17"/>
    <p:sldId id="385" r:id="rId18"/>
    <p:sldId id="326" r:id="rId19"/>
    <p:sldId id="359" r:id="rId20"/>
    <p:sldId id="324" r:id="rId21"/>
    <p:sldId id="329" r:id="rId22"/>
    <p:sldId id="368" r:id="rId23"/>
    <p:sldId id="360" r:id="rId24"/>
    <p:sldId id="336" r:id="rId25"/>
    <p:sldId id="337" r:id="rId26"/>
    <p:sldId id="369" r:id="rId27"/>
    <p:sldId id="314" r:id="rId28"/>
    <p:sldId id="371" r:id="rId29"/>
    <p:sldId id="372" r:id="rId30"/>
    <p:sldId id="373" r:id="rId31"/>
    <p:sldId id="370" r:id="rId32"/>
    <p:sldId id="277" r:id="rId33"/>
  </p:sldIdLst>
  <p:sldSz cx="9144000" cy="6858000" type="screen4x3"/>
  <p:notesSz cx="7112000" cy="9398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charset="0"/>
        <a:ea typeface="Geneva"/>
        <a:cs typeface="Geneva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charset="0"/>
        <a:ea typeface="Geneva"/>
        <a:cs typeface="Geneva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charset="0"/>
        <a:ea typeface="Geneva"/>
        <a:cs typeface="Geneva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charset="0"/>
        <a:ea typeface="Geneva"/>
        <a:cs typeface="Geneva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charset="0"/>
        <a:ea typeface="Geneva"/>
        <a:cs typeface="Geneva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charset="0"/>
        <a:ea typeface="Geneva"/>
        <a:cs typeface="Geneva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charset="0"/>
        <a:ea typeface="Geneva"/>
        <a:cs typeface="Geneva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charset="0"/>
        <a:ea typeface="Geneva"/>
        <a:cs typeface="Geneva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charset="0"/>
        <a:ea typeface="Geneva"/>
        <a:cs typeface="Geneva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C7C00"/>
    <a:srgbClr val="59A8D9"/>
    <a:srgbClr val="2B85BB"/>
    <a:srgbClr val="D27D00"/>
    <a:srgbClr val="DD191A"/>
    <a:srgbClr val="6DD543"/>
    <a:srgbClr val="2C63EC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7661" autoAdjust="0"/>
    <p:restoredTop sz="94660"/>
  </p:normalViewPr>
  <p:slideViewPr>
    <p:cSldViewPr>
      <p:cViewPr varScale="1">
        <p:scale>
          <a:sx n="78" d="100"/>
          <a:sy n="78" d="100"/>
        </p:scale>
        <p:origin x="-84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82925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47" tIns="46324" rIns="92647" bIns="46324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defRPr sz="1200">
                <a:solidFill>
                  <a:schemeClr val="tx1"/>
                </a:solidFill>
                <a:latin typeface="Arial" charset="0"/>
                <a:ea typeface="Geneva" pitchFamily="68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7488" y="0"/>
            <a:ext cx="3082925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47" tIns="46324" rIns="92647" bIns="46324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defRPr sz="1200">
                <a:solidFill>
                  <a:schemeClr val="tx1"/>
                </a:solidFill>
                <a:latin typeface="Arial" charset="0"/>
                <a:ea typeface="Geneva" pitchFamily="68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4925"/>
            <a:ext cx="3082925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47" tIns="46324" rIns="92647" bIns="46324" numCol="1" anchor="b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defRPr sz="1200">
                <a:solidFill>
                  <a:schemeClr val="tx1"/>
                </a:solidFill>
                <a:latin typeface="Arial" charset="0"/>
                <a:ea typeface="Geneva" pitchFamily="68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7488" y="8924925"/>
            <a:ext cx="3082925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47" tIns="46324" rIns="92647" bIns="46324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defRPr sz="1200">
                <a:solidFill>
                  <a:schemeClr val="tx1"/>
                </a:solidFill>
                <a:latin typeface="Arial" charset="0"/>
                <a:ea typeface="Geneva" pitchFamily="68" charset="-128"/>
                <a:cs typeface="+mn-cs"/>
              </a:defRPr>
            </a:lvl1pPr>
          </a:lstStyle>
          <a:p>
            <a:pPr>
              <a:defRPr/>
            </a:pPr>
            <a:fld id="{54C2BCAA-3315-4C01-9234-CD2C4063BF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1270" name="Picture 10" descr="Connect Loupe_2007NEW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7063" y="8818563"/>
            <a:ext cx="13716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1" name="Picture 1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7063" y="63500"/>
            <a:ext cx="59372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2644100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9245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47" tIns="46324" rIns="92647" bIns="46324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defRPr sz="1200">
                <a:solidFill>
                  <a:schemeClr val="tx1"/>
                </a:solidFill>
                <a:latin typeface="Arial" charset="0"/>
                <a:ea typeface="Geneva" pitchFamily="68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3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09625" y="923925"/>
            <a:ext cx="5957888" cy="44688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14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7100" y="6010275"/>
            <a:ext cx="5953125" cy="269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47" tIns="46324" rIns="92647" bIns="463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</a:t>
            </a:r>
          </a:p>
        </p:txBody>
      </p:sp>
      <p:sp>
        <p:nvSpPr>
          <p:cNvPr id="1914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34450"/>
            <a:ext cx="309245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47" tIns="46324" rIns="92647" bIns="46324" numCol="1" anchor="b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defRPr sz="1000">
                <a:solidFill>
                  <a:schemeClr val="tx1"/>
                </a:solidFill>
                <a:latin typeface="Arial" charset="0"/>
                <a:ea typeface="Geneva" pitchFamily="68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14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9550" y="8934450"/>
            <a:ext cx="309245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47" tIns="46324" rIns="92647" bIns="46324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defRPr sz="1000">
                <a:solidFill>
                  <a:schemeClr val="tx1"/>
                </a:solidFill>
                <a:latin typeface="Arial" charset="0"/>
                <a:ea typeface="Geneva" pitchFamily="68" charset="-128"/>
                <a:cs typeface="+mn-cs"/>
              </a:defRPr>
            </a:lvl1pPr>
          </a:lstStyle>
          <a:p>
            <a:pPr>
              <a:defRPr/>
            </a:pPr>
            <a:fld id="{71E3E052-C00F-4495-8FAE-989C98DDEA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247" name="Picture 1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89000" y="280988"/>
            <a:ext cx="601663" cy="373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26464698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lnSpc>
        <a:spcPct val="200000"/>
      </a:lnSpc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itchFamily="68" charset="0"/>
        <a:ea typeface="Geneva" pitchFamily="68" charset="-128"/>
        <a:cs typeface="Geneva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68" charset="0"/>
        <a:ea typeface="Geneva" pitchFamily="68" charset="-128"/>
        <a:cs typeface="Geneva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68" charset="0"/>
        <a:ea typeface="Geneva" pitchFamily="68" charset="-128"/>
        <a:cs typeface="Geneva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68" charset="0"/>
        <a:ea typeface="Geneva" pitchFamily="68" charset="-128"/>
        <a:cs typeface="Geneva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68" charset="0"/>
        <a:ea typeface="Geneva" pitchFamily="68" charset="-128"/>
        <a:cs typeface="Geneva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FE64F1A-FAC1-40EF-987F-26E5D5CBBBBD}" type="slidenum">
              <a:rPr lang="en-US" smtClean="0">
                <a:ea typeface="Geneva"/>
                <a:cs typeface="Geneva"/>
              </a:rPr>
              <a:pPr/>
              <a:t>1</a:t>
            </a:fld>
            <a:endParaRPr lang="en-US" smtClean="0">
              <a:ea typeface="Geneva"/>
              <a:cs typeface="Geneva"/>
            </a:endParaRPr>
          </a:p>
        </p:txBody>
      </p:sp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08038" y="923925"/>
            <a:ext cx="5959475" cy="4468813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charset="0"/>
              <a:ea typeface="Geneva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7E9396-01E6-44EE-B593-0BDE334503F1}" type="slidenum">
              <a:rPr lang="en-US" smtClean="0">
                <a:ea typeface="Geneva"/>
                <a:cs typeface="Geneva"/>
              </a:rPr>
              <a:pPr/>
              <a:t>2</a:t>
            </a:fld>
            <a:endParaRPr lang="en-US" smtClean="0">
              <a:ea typeface="Geneva"/>
              <a:cs typeface="Geneva"/>
            </a:endParaRPr>
          </a:p>
        </p:txBody>
      </p:sp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08038" y="923925"/>
            <a:ext cx="5959475" cy="4468813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charset="0"/>
              <a:ea typeface="Geneva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693AFE-926D-4A8D-BAE1-909F5D5EB567}" type="slidenum">
              <a:rPr lang="en-US" smtClean="0">
                <a:ea typeface="Geneva"/>
                <a:cs typeface="Geneva"/>
              </a:rPr>
              <a:pPr/>
              <a:t>3</a:t>
            </a:fld>
            <a:endParaRPr lang="en-US" smtClean="0">
              <a:ea typeface="Geneva"/>
              <a:cs typeface="Geneva"/>
            </a:endParaRPr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08088" y="704850"/>
            <a:ext cx="4695825" cy="3522663"/>
          </a:xfrm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1200" y="4464050"/>
            <a:ext cx="5689600" cy="4229100"/>
          </a:xfrm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charset="0"/>
              <a:ea typeface="Geneva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7E9396-01E6-44EE-B593-0BDE334503F1}" type="slidenum">
              <a:rPr lang="en-US" smtClean="0">
                <a:ea typeface="Geneva"/>
                <a:cs typeface="Geneva"/>
              </a:rPr>
              <a:pPr/>
              <a:t>4</a:t>
            </a:fld>
            <a:endParaRPr lang="en-US" smtClean="0">
              <a:ea typeface="Geneva"/>
              <a:cs typeface="Geneva"/>
            </a:endParaRPr>
          </a:p>
        </p:txBody>
      </p:sp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08038" y="923925"/>
            <a:ext cx="5959475" cy="4468813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charset="0"/>
              <a:ea typeface="Genev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7E9396-01E6-44EE-B593-0BDE334503F1}" type="slidenum">
              <a:rPr lang="en-US" smtClean="0">
                <a:ea typeface="Geneva"/>
                <a:cs typeface="Geneva"/>
              </a:rPr>
              <a:pPr/>
              <a:t>5</a:t>
            </a:fld>
            <a:endParaRPr lang="en-US" smtClean="0">
              <a:ea typeface="Geneva"/>
              <a:cs typeface="Geneva"/>
            </a:endParaRPr>
          </a:p>
        </p:txBody>
      </p:sp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08038" y="923925"/>
            <a:ext cx="5959475" cy="4468813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charset="0"/>
              <a:ea typeface="Geneva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7E9396-01E6-44EE-B593-0BDE334503F1}" type="slidenum">
              <a:rPr lang="en-US" smtClean="0">
                <a:ea typeface="Geneva"/>
                <a:cs typeface="Geneva"/>
              </a:rPr>
              <a:pPr/>
              <a:t>6</a:t>
            </a:fld>
            <a:endParaRPr lang="en-US" smtClean="0">
              <a:ea typeface="Geneva"/>
              <a:cs typeface="Geneva"/>
            </a:endParaRPr>
          </a:p>
        </p:txBody>
      </p:sp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08038" y="923925"/>
            <a:ext cx="5959475" cy="4468813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charset="0"/>
              <a:ea typeface="Geneva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7E9396-01E6-44EE-B593-0BDE334503F1}" type="slidenum">
              <a:rPr lang="en-US" smtClean="0">
                <a:ea typeface="Geneva"/>
                <a:cs typeface="Geneva"/>
              </a:rPr>
              <a:pPr/>
              <a:t>7</a:t>
            </a:fld>
            <a:endParaRPr lang="en-US" smtClean="0">
              <a:ea typeface="Geneva"/>
              <a:cs typeface="Geneva"/>
            </a:endParaRPr>
          </a:p>
        </p:txBody>
      </p:sp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08038" y="923925"/>
            <a:ext cx="5959475" cy="4468813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charset="0"/>
              <a:ea typeface="Geneva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7E9396-01E6-44EE-B593-0BDE334503F1}" type="slidenum">
              <a:rPr lang="en-US" smtClean="0">
                <a:ea typeface="Geneva"/>
                <a:cs typeface="Geneva"/>
              </a:rPr>
              <a:pPr/>
              <a:t>8</a:t>
            </a:fld>
            <a:endParaRPr lang="en-US" smtClean="0">
              <a:ea typeface="Geneva"/>
              <a:cs typeface="Geneva"/>
            </a:endParaRPr>
          </a:p>
        </p:txBody>
      </p:sp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08038" y="923925"/>
            <a:ext cx="5959475" cy="4468813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charset="0"/>
              <a:ea typeface="Geneva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7E9396-01E6-44EE-B593-0BDE334503F1}" type="slidenum">
              <a:rPr lang="en-US" smtClean="0">
                <a:ea typeface="Geneva"/>
                <a:cs typeface="Geneva"/>
              </a:rPr>
              <a:pPr/>
              <a:t>9</a:t>
            </a:fld>
            <a:endParaRPr lang="en-US" smtClean="0">
              <a:ea typeface="Geneva"/>
              <a:cs typeface="Geneva"/>
            </a:endParaRPr>
          </a:p>
        </p:txBody>
      </p:sp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08038" y="923925"/>
            <a:ext cx="5959475" cy="4468813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charset="0"/>
              <a:ea typeface="Geneva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7E9396-01E6-44EE-B593-0BDE334503F1}" type="slidenum">
              <a:rPr lang="en-US" smtClean="0">
                <a:ea typeface="Geneva"/>
                <a:cs typeface="Geneva"/>
              </a:rPr>
              <a:pPr/>
              <a:t>10</a:t>
            </a:fld>
            <a:endParaRPr lang="en-US" smtClean="0">
              <a:ea typeface="Geneva"/>
              <a:cs typeface="Geneva"/>
            </a:endParaRPr>
          </a:p>
        </p:txBody>
      </p:sp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08038" y="923925"/>
            <a:ext cx="5959475" cy="4468813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charset="0"/>
              <a:ea typeface="Geneva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7E9396-01E6-44EE-B593-0BDE334503F1}" type="slidenum">
              <a:rPr lang="en-US" smtClean="0">
                <a:ea typeface="Geneva"/>
                <a:cs typeface="Geneva"/>
              </a:rPr>
              <a:pPr/>
              <a:t>11</a:t>
            </a:fld>
            <a:endParaRPr lang="en-US" smtClean="0">
              <a:ea typeface="Geneva"/>
              <a:cs typeface="Geneva"/>
            </a:endParaRPr>
          </a:p>
        </p:txBody>
      </p:sp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08038" y="923925"/>
            <a:ext cx="5959475" cy="4468813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charset="0"/>
              <a:ea typeface="Geneva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7E9396-01E6-44EE-B593-0BDE334503F1}" type="slidenum">
              <a:rPr lang="en-US" smtClean="0">
                <a:ea typeface="Geneva"/>
                <a:cs typeface="Geneva"/>
              </a:rPr>
              <a:pPr/>
              <a:t>12</a:t>
            </a:fld>
            <a:endParaRPr lang="en-US" smtClean="0">
              <a:ea typeface="Geneva"/>
              <a:cs typeface="Geneva"/>
            </a:endParaRPr>
          </a:p>
        </p:txBody>
      </p:sp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08038" y="923925"/>
            <a:ext cx="5959475" cy="4468813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charset="0"/>
              <a:ea typeface="Geneva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7E9396-01E6-44EE-B593-0BDE334503F1}" type="slidenum">
              <a:rPr lang="en-US" smtClean="0">
                <a:ea typeface="Geneva"/>
                <a:cs typeface="Geneva"/>
              </a:rPr>
              <a:pPr/>
              <a:t>13</a:t>
            </a:fld>
            <a:endParaRPr lang="en-US" smtClean="0">
              <a:ea typeface="Geneva"/>
              <a:cs typeface="Geneva"/>
            </a:endParaRPr>
          </a:p>
        </p:txBody>
      </p:sp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08038" y="923925"/>
            <a:ext cx="5959475" cy="4468813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charset="0"/>
              <a:ea typeface="Geneva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7E9396-01E6-44EE-B593-0BDE334503F1}" type="slidenum">
              <a:rPr lang="en-US" smtClean="0">
                <a:ea typeface="Geneva"/>
                <a:cs typeface="Geneva"/>
              </a:rPr>
              <a:pPr/>
              <a:t>14</a:t>
            </a:fld>
            <a:endParaRPr lang="en-US" smtClean="0">
              <a:ea typeface="Geneva"/>
              <a:cs typeface="Geneva"/>
            </a:endParaRPr>
          </a:p>
        </p:txBody>
      </p:sp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08038" y="923925"/>
            <a:ext cx="5959475" cy="4468813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charset="0"/>
              <a:ea typeface="Geneva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7E9396-01E6-44EE-B593-0BDE334503F1}" type="slidenum">
              <a:rPr lang="en-US" smtClean="0">
                <a:ea typeface="Geneva"/>
                <a:cs typeface="Geneva"/>
              </a:rPr>
              <a:pPr/>
              <a:t>15</a:t>
            </a:fld>
            <a:endParaRPr lang="en-US" smtClean="0">
              <a:ea typeface="Geneva"/>
              <a:cs typeface="Geneva"/>
            </a:endParaRPr>
          </a:p>
        </p:txBody>
      </p:sp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08038" y="923925"/>
            <a:ext cx="5959475" cy="4468813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charset="0"/>
              <a:ea typeface="Geneva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7E9396-01E6-44EE-B593-0BDE334503F1}" type="slidenum">
              <a:rPr lang="en-US" smtClean="0">
                <a:ea typeface="Geneva"/>
                <a:cs typeface="Geneva"/>
              </a:rPr>
              <a:pPr/>
              <a:t>16</a:t>
            </a:fld>
            <a:endParaRPr lang="en-US" smtClean="0">
              <a:ea typeface="Geneva"/>
              <a:cs typeface="Geneva"/>
            </a:endParaRPr>
          </a:p>
        </p:txBody>
      </p:sp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08038" y="923925"/>
            <a:ext cx="5959475" cy="4468813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charset="0"/>
              <a:ea typeface="Geneva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7E9396-01E6-44EE-B593-0BDE334503F1}" type="slidenum">
              <a:rPr lang="en-US" smtClean="0">
                <a:ea typeface="Geneva"/>
                <a:cs typeface="Geneva"/>
              </a:rPr>
              <a:pPr/>
              <a:t>17</a:t>
            </a:fld>
            <a:endParaRPr lang="en-US" smtClean="0">
              <a:ea typeface="Geneva"/>
              <a:cs typeface="Geneva"/>
            </a:endParaRPr>
          </a:p>
        </p:txBody>
      </p:sp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08038" y="923925"/>
            <a:ext cx="5959475" cy="4468813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charset="0"/>
              <a:ea typeface="Geneva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7E9396-01E6-44EE-B593-0BDE334503F1}" type="slidenum">
              <a:rPr lang="en-US" smtClean="0">
                <a:ea typeface="Geneva"/>
                <a:cs typeface="Geneva"/>
              </a:rPr>
              <a:pPr/>
              <a:t>18</a:t>
            </a:fld>
            <a:endParaRPr lang="en-US" smtClean="0">
              <a:ea typeface="Geneva"/>
              <a:cs typeface="Geneva"/>
            </a:endParaRPr>
          </a:p>
        </p:txBody>
      </p:sp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08038" y="923925"/>
            <a:ext cx="5959475" cy="4468813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charset="0"/>
              <a:ea typeface="Geneva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3EA827-6B78-417F-8976-9E3954FC8A2B}" type="slidenum">
              <a:rPr lang="en-US" smtClean="0">
                <a:ea typeface="Geneva"/>
                <a:cs typeface="Geneva"/>
              </a:rPr>
              <a:pPr/>
              <a:t>19</a:t>
            </a:fld>
            <a:endParaRPr lang="en-US" smtClean="0">
              <a:ea typeface="Geneva"/>
              <a:cs typeface="Geneva"/>
            </a:endParaRPr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08088" y="704850"/>
            <a:ext cx="4695825" cy="3522663"/>
          </a:xfrm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1200" y="4464050"/>
            <a:ext cx="5689600" cy="4229100"/>
          </a:xfrm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charset="0"/>
              <a:ea typeface="Geneva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7E9396-01E6-44EE-B593-0BDE334503F1}" type="slidenum">
              <a:rPr lang="en-US" smtClean="0">
                <a:ea typeface="Geneva"/>
                <a:cs typeface="Geneva"/>
              </a:rPr>
              <a:pPr/>
              <a:t>20</a:t>
            </a:fld>
            <a:endParaRPr lang="en-US" smtClean="0">
              <a:ea typeface="Geneva"/>
              <a:cs typeface="Geneva"/>
            </a:endParaRPr>
          </a:p>
        </p:txBody>
      </p:sp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08038" y="923925"/>
            <a:ext cx="5959475" cy="4468813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charset="0"/>
              <a:ea typeface="Geneva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7E9396-01E6-44EE-B593-0BDE334503F1}" type="slidenum">
              <a:rPr lang="en-US" smtClean="0">
                <a:ea typeface="Geneva"/>
                <a:cs typeface="Geneva"/>
              </a:rPr>
              <a:pPr/>
              <a:t>21</a:t>
            </a:fld>
            <a:endParaRPr lang="en-US" smtClean="0">
              <a:ea typeface="Geneva"/>
              <a:cs typeface="Geneva"/>
            </a:endParaRPr>
          </a:p>
        </p:txBody>
      </p:sp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08038" y="923925"/>
            <a:ext cx="5959475" cy="4468813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charset="0"/>
              <a:ea typeface="Geneva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7E9396-01E6-44EE-B593-0BDE334503F1}" type="slidenum">
              <a:rPr lang="en-US" smtClean="0">
                <a:ea typeface="Geneva"/>
                <a:cs typeface="Geneva"/>
              </a:rPr>
              <a:pPr/>
              <a:t>22</a:t>
            </a:fld>
            <a:endParaRPr lang="en-US" smtClean="0">
              <a:ea typeface="Geneva"/>
              <a:cs typeface="Geneva"/>
            </a:endParaRPr>
          </a:p>
        </p:txBody>
      </p:sp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08038" y="923925"/>
            <a:ext cx="5959475" cy="4468813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charset="0"/>
              <a:ea typeface="Geneva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EBCC166-75F9-4A81-8B85-8E44384390F3}" type="slidenum">
              <a:rPr lang="en-US" smtClean="0">
                <a:ea typeface="Geneva"/>
                <a:cs typeface="Geneva"/>
              </a:rPr>
              <a:pPr/>
              <a:t>23</a:t>
            </a:fld>
            <a:endParaRPr lang="en-US" smtClean="0">
              <a:ea typeface="Geneva"/>
              <a:cs typeface="Geneva"/>
            </a:endParaRPr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08088" y="704850"/>
            <a:ext cx="4695825" cy="3522663"/>
          </a:xfrm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1200" y="4464050"/>
            <a:ext cx="5689600" cy="4229100"/>
          </a:xfrm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charset="0"/>
              <a:ea typeface="Geneva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7E9396-01E6-44EE-B593-0BDE334503F1}" type="slidenum">
              <a:rPr lang="en-US" smtClean="0">
                <a:ea typeface="Geneva"/>
                <a:cs typeface="Geneva"/>
              </a:rPr>
              <a:pPr/>
              <a:t>24</a:t>
            </a:fld>
            <a:endParaRPr lang="en-US" smtClean="0">
              <a:ea typeface="Geneva"/>
              <a:cs typeface="Geneva"/>
            </a:endParaRPr>
          </a:p>
        </p:txBody>
      </p:sp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08038" y="923925"/>
            <a:ext cx="5959475" cy="4468813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charset="0"/>
              <a:ea typeface="Geneva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7E9396-01E6-44EE-B593-0BDE334503F1}" type="slidenum">
              <a:rPr lang="en-US" smtClean="0">
                <a:ea typeface="Geneva"/>
                <a:cs typeface="Geneva"/>
              </a:rPr>
              <a:pPr/>
              <a:t>25</a:t>
            </a:fld>
            <a:endParaRPr lang="en-US" smtClean="0">
              <a:ea typeface="Geneva"/>
              <a:cs typeface="Geneva"/>
            </a:endParaRPr>
          </a:p>
        </p:txBody>
      </p:sp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08038" y="923925"/>
            <a:ext cx="5959475" cy="4468813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charset="0"/>
              <a:ea typeface="Geneva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7E9396-01E6-44EE-B593-0BDE334503F1}" type="slidenum">
              <a:rPr lang="en-US" smtClean="0">
                <a:ea typeface="Geneva"/>
                <a:cs typeface="Geneva"/>
              </a:rPr>
              <a:pPr/>
              <a:t>26</a:t>
            </a:fld>
            <a:endParaRPr lang="en-US" smtClean="0">
              <a:ea typeface="Geneva"/>
              <a:cs typeface="Geneva"/>
            </a:endParaRPr>
          </a:p>
        </p:txBody>
      </p:sp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08038" y="923925"/>
            <a:ext cx="5959475" cy="4468813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charset="0"/>
              <a:ea typeface="Geneva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5E6F74C-60FA-485F-9262-19546E11E479}" type="slidenum">
              <a:rPr lang="en-US" smtClean="0">
                <a:ea typeface="Geneva"/>
                <a:cs typeface="Geneva"/>
              </a:rPr>
              <a:pPr/>
              <a:t>27</a:t>
            </a:fld>
            <a:endParaRPr lang="en-US" smtClean="0">
              <a:ea typeface="Geneva"/>
              <a:cs typeface="Geneva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08088" y="704850"/>
            <a:ext cx="4695825" cy="3522663"/>
          </a:xfrm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1200" y="4464050"/>
            <a:ext cx="5689600" cy="4229100"/>
          </a:xfrm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charset="0"/>
              <a:ea typeface="Geneva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7E9396-01E6-44EE-B593-0BDE334503F1}" type="slidenum">
              <a:rPr lang="en-US" smtClean="0">
                <a:ea typeface="Geneva"/>
                <a:cs typeface="Geneva"/>
              </a:rPr>
              <a:pPr/>
              <a:t>28</a:t>
            </a:fld>
            <a:endParaRPr lang="en-US" smtClean="0">
              <a:ea typeface="Geneva"/>
              <a:cs typeface="Geneva"/>
            </a:endParaRPr>
          </a:p>
        </p:txBody>
      </p:sp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08038" y="923925"/>
            <a:ext cx="5959475" cy="4468813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charset="0"/>
              <a:ea typeface="Geneva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7E9396-01E6-44EE-B593-0BDE334503F1}" type="slidenum">
              <a:rPr lang="en-US" smtClean="0">
                <a:ea typeface="Geneva"/>
                <a:cs typeface="Geneva"/>
              </a:rPr>
              <a:pPr/>
              <a:t>29</a:t>
            </a:fld>
            <a:endParaRPr lang="en-US" smtClean="0">
              <a:ea typeface="Geneva"/>
              <a:cs typeface="Geneva"/>
            </a:endParaRPr>
          </a:p>
        </p:txBody>
      </p:sp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08038" y="923925"/>
            <a:ext cx="5959475" cy="4468813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charset="0"/>
              <a:ea typeface="Geneva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7E9396-01E6-44EE-B593-0BDE334503F1}" type="slidenum">
              <a:rPr lang="en-US" smtClean="0">
                <a:ea typeface="Geneva"/>
                <a:cs typeface="Geneva"/>
              </a:rPr>
              <a:pPr/>
              <a:t>30</a:t>
            </a:fld>
            <a:endParaRPr lang="en-US" smtClean="0">
              <a:ea typeface="Geneva"/>
              <a:cs typeface="Geneva"/>
            </a:endParaRPr>
          </a:p>
        </p:txBody>
      </p:sp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08038" y="923925"/>
            <a:ext cx="5959475" cy="4468813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charset="0"/>
              <a:ea typeface="Geneva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5E6F74C-60FA-485F-9262-19546E11E479}" type="slidenum">
              <a:rPr lang="en-US" smtClean="0">
                <a:ea typeface="Geneva"/>
                <a:cs typeface="Geneva"/>
              </a:rPr>
              <a:pPr/>
              <a:t>31</a:t>
            </a:fld>
            <a:endParaRPr lang="en-US" smtClean="0">
              <a:ea typeface="Geneva"/>
              <a:cs typeface="Geneva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08088" y="704850"/>
            <a:ext cx="4695825" cy="3522663"/>
          </a:xfrm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1200" y="4464050"/>
            <a:ext cx="5689600" cy="4229100"/>
          </a:xfrm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charset="0"/>
              <a:ea typeface="Geneva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5ABD25B-6415-4065-90A7-6512193B8448}" type="slidenum">
              <a:rPr lang="en-US" smtClean="0">
                <a:ea typeface="Geneva"/>
                <a:cs typeface="Geneva"/>
              </a:rPr>
              <a:pPr/>
              <a:t>32</a:t>
            </a:fld>
            <a:endParaRPr lang="en-US" smtClean="0">
              <a:ea typeface="Geneva"/>
              <a:cs typeface="Geneva"/>
            </a:endParaRPr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08088" y="704850"/>
            <a:ext cx="4695825" cy="3522663"/>
          </a:xfrm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1200" y="4464050"/>
            <a:ext cx="5689600" cy="4229100"/>
          </a:xfrm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charset="0"/>
              <a:ea typeface="Genev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invGray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\\Marketing\marketing\_For_\for_Mike_Murphy\Blu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114675"/>
            <a:ext cx="9144000" cy="374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9" descr="strip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048000"/>
            <a:ext cx="9144000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0" descr="EFI_PrintToWin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66738" y="5867400"/>
            <a:ext cx="1304925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10" descr="Connect.gif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905000" y="914400"/>
            <a:ext cx="5267325" cy="140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793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66700" y="3657600"/>
            <a:ext cx="8610600" cy="990600"/>
          </a:xfrm>
        </p:spPr>
        <p:txBody>
          <a:bodyPr lIns="152400" tIns="152400" rIns="152400" bIns="0" anchor="t"/>
          <a:lstStyle>
            <a:lvl1pPr algn="ctr"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6794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66700" y="4648200"/>
            <a:ext cx="8610600" cy="990600"/>
          </a:xfrm>
        </p:spPr>
        <p:txBody>
          <a:bodyPr lIns="152400" tIns="152400" rIns="152400" bIns="0"/>
          <a:lstStyle>
            <a:lvl1pPr marL="0" indent="0" algn="ctr">
              <a:buFont typeface="Wingdings" pitchFamily="2" charset="2"/>
              <a:buNone/>
              <a:defRPr sz="2400" i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3" y="1447800"/>
            <a:ext cx="8226425" cy="45196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6425" cy="989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en-US" smtClean="0"/>
              <a:t>Click to edit Master title style</a:t>
            </a:r>
            <a:endParaRPr lang="en-US" dirty="0" smtClean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881188"/>
            <a:ext cx="4037012" cy="4519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025" y="1881188"/>
            <a:ext cx="4037013" cy="4519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08756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447800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08756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36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6425" cy="989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en-US" smtClean="0"/>
              <a:t>Click to edit Master title style</a:t>
            </a:r>
            <a:endParaRPr lang="en-US" dirty="0" smtClean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447800"/>
            <a:ext cx="4037012" cy="45196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5025" y="1447800"/>
            <a:ext cx="4037013" cy="45196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36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6425" cy="989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en-US" smtClean="0"/>
              <a:t>Click to edit Master title style</a:t>
            </a:r>
            <a:endParaRPr lang="en-US" dirty="0" smtClean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55613" y="1447800"/>
            <a:ext cx="8226425" cy="4519612"/>
          </a:xfrm>
        </p:spPr>
        <p:txBody>
          <a:bodyPr/>
          <a:lstStyle/>
          <a:p>
            <a:pPr lvl="0"/>
            <a:r>
              <a:rPr lang="en-US" noProof="0" smtClean="0"/>
              <a:t>Click icon to add chart</a:t>
            </a:r>
          </a:p>
        </p:txBody>
      </p:sp>
      <p:sp>
        <p:nvSpPr>
          <p:cNvPr id="4" name="Rectangle 36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6425" cy="989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en-US" smtClean="0"/>
              <a:t>Click to edit Master title style</a:t>
            </a:r>
            <a:endParaRPr lang="en-US" dirty="0" smtClean="0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lnSpc>
                <a:spcPct val="85000"/>
              </a:lnSpc>
              <a:defRPr/>
            </a:pPr>
            <a:endParaRPr lang="en-US">
              <a:latin typeface="Arial" pitchFamily="68" charset="0"/>
              <a:ea typeface="Geneva" pitchFamily="68" charset="-128"/>
              <a:cs typeface="+mn-cs"/>
            </a:endParaRPr>
          </a:p>
        </p:txBody>
      </p:sp>
      <p:sp>
        <p:nvSpPr>
          <p:cNvPr id="20483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295400"/>
            <a:ext cx="8226425" cy="451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7620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484" name="Rectangle 36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6425" cy="989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pic>
        <p:nvPicPr>
          <p:cNvPr id="20485" name="Picture 6" descr="Connect_CMYK.jp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7162800" y="6207125"/>
            <a:ext cx="1752600" cy="46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6" name="Picture 6" descr="stripe.jp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0" y="0"/>
            <a:ext cx="9144000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0" r:id="rId2"/>
    <p:sldLayoutId id="2147483659" r:id="rId3"/>
    <p:sldLayoutId id="2147483658" r:id="rId4"/>
    <p:sldLayoutId id="2147483657" r:id="rId5"/>
    <p:sldLayoutId id="2147483656" r:id="rId6"/>
    <p:sldLayoutId id="2147483655" r:id="rId7"/>
    <p:sldLayoutId id="2147483654" r:id="rId8"/>
  </p:sldLayoutIdLst>
  <p:transition>
    <p:fade/>
  </p:transition>
  <p:txStyles>
    <p:titleStyle>
      <a:lvl1pPr algn="l" rtl="0" fontAlgn="base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+mj-lt"/>
          <a:ea typeface="Geneva" pitchFamily="68" charset="-128"/>
          <a:cs typeface="Geneva"/>
        </a:defRPr>
      </a:lvl1pPr>
      <a:lvl2pPr algn="l" rtl="0" fontAlgn="base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Franklin Gothic Book" pitchFamily="34" charset="0"/>
          <a:ea typeface="Geneva" pitchFamily="68" charset="-128"/>
          <a:cs typeface="Geneva"/>
        </a:defRPr>
      </a:lvl2pPr>
      <a:lvl3pPr algn="l" rtl="0" fontAlgn="base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Franklin Gothic Book" pitchFamily="34" charset="0"/>
          <a:ea typeface="Geneva" pitchFamily="68" charset="-128"/>
          <a:cs typeface="Geneva"/>
        </a:defRPr>
      </a:lvl3pPr>
      <a:lvl4pPr algn="l" rtl="0" fontAlgn="base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Franklin Gothic Book" pitchFamily="34" charset="0"/>
          <a:ea typeface="Geneva" pitchFamily="68" charset="-128"/>
          <a:cs typeface="Geneva"/>
        </a:defRPr>
      </a:lvl4pPr>
      <a:lvl5pPr algn="l" rtl="0" fontAlgn="base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Franklin Gothic Book" pitchFamily="34" charset="0"/>
          <a:ea typeface="Geneva" pitchFamily="68" charset="-128"/>
          <a:cs typeface="Geneva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FFFFFF"/>
          </a:solidFill>
          <a:latin typeface="Arial" pitchFamily="6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FFFFFF"/>
          </a:solidFill>
          <a:latin typeface="Arial" pitchFamily="6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FFFFFF"/>
          </a:solidFill>
          <a:latin typeface="Arial" pitchFamily="6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FFFFFF"/>
          </a:solidFill>
          <a:latin typeface="Arial" pitchFamily="68" charset="0"/>
        </a:defRPr>
      </a:lvl9pPr>
    </p:titleStyle>
    <p:bodyStyle>
      <a:lvl1pPr marL="342900" indent="-342900" algn="l" rtl="0" fontAlgn="base">
        <a:lnSpc>
          <a:spcPct val="90000"/>
        </a:lnSpc>
        <a:spcBef>
          <a:spcPct val="60000"/>
        </a:spcBef>
        <a:spcAft>
          <a:spcPct val="0"/>
        </a:spcAft>
        <a:buClr>
          <a:schemeClr val="accent1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Geneva" pitchFamily="68" charset="-128"/>
          <a:cs typeface="Geneva"/>
        </a:defRPr>
      </a:lvl1pPr>
      <a:lvl2pPr marL="742950" indent="-285750" algn="l" rtl="0" fontAlgn="base">
        <a:lnSpc>
          <a:spcPct val="90000"/>
        </a:lnSpc>
        <a:spcBef>
          <a:spcPct val="6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Geneva" pitchFamily="68" charset="-128"/>
          <a:cs typeface="Geneva"/>
        </a:defRPr>
      </a:lvl2pPr>
      <a:lvl3pPr marL="1143000" indent="-228600" algn="l" rtl="0" fontAlgn="base">
        <a:lnSpc>
          <a:spcPct val="90000"/>
        </a:lnSpc>
        <a:spcBef>
          <a:spcPct val="60000"/>
        </a:spcBef>
        <a:spcAft>
          <a:spcPct val="0"/>
        </a:spcAft>
        <a:buClr>
          <a:schemeClr val="folHlink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Geneva" pitchFamily="68" charset="-128"/>
          <a:cs typeface="Geneva"/>
        </a:defRPr>
      </a:lvl3pPr>
      <a:lvl4pPr marL="1600200" indent="-228600" algn="l" rtl="0" fontAlgn="base">
        <a:lnSpc>
          <a:spcPct val="90000"/>
        </a:lnSpc>
        <a:spcBef>
          <a:spcPct val="6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Geneva" pitchFamily="68" charset="-128"/>
          <a:cs typeface="Geneva"/>
        </a:defRPr>
      </a:lvl4pPr>
      <a:lvl5pPr marL="2057400" indent="-228600" algn="l" rtl="0" fontAlgn="base">
        <a:lnSpc>
          <a:spcPct val="90000"/>
        </a:lnSpc>
        <a:spcBef>
          <a:spcPct val="60000"/>
        </a:spcBef>
        <a:spcAft>
          <a:spcPct val="0"/>
        </a:spcAft>
        <a:buClr>
          <a:schemeClr val="bg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Geneva" pitchFamily="68" charset="-128"/>
          <a:cs typeface="Geneva"/>
        </a:defRPr>
      </a:lvl5pPr>
      <a:lvl6pPr marL="2514600" indent="-228600" algn="l" rtl="0" eaLnBrk="1" fontAlgn="base" hangingPunct="1">
        <a:lnSpc>
          <a:spcPct val="90000"/>
        </a:lnSpc>
        <a:spcBef>
          <a:spcPct val="60000"/>
        </a:spcBef>
        <a:spcAft>
          <a:spcPct val="0"/>
        </a:spcAft>
        <a:buClr>
          <a:schemeClr val="bg2"/>
        </a:buClr>
        <a:buSzPct val="55000"/>
        <a:buFont typeface="Wingdings" pitchFamily="2" charset="2"/>
        <a:buChar char="n"/>
        <a:defRPr>
          <a:solidFill>
            <a:schemeClr val="tx1"/>
          </a:solidFill>
          <a:latin typeface="+mn-lt"/>
          <a:ea typeface="Geneva" pitchFamily="68" charset="-128"/>
        </a:defRPr>
      </a:lvl6pPr>
      <a:lvl7pPr marL="2971800" indent="-228600" algn="l" rtl="0" eaLnBrk="1" fontAlgn="base" hangingPunct="1">
        <a:lnSpc>
          <a:spcPct val="90000"/>
        </a:lnSpc>
        <a:spcBef>
          <a:spcPct val="60000"/>
        </a:spcBef>
        <a:spcAft>
          <a:spcPct val="0"/>
        </a:spcAft>
        <a:buClr>
          <a:schemeClr val="bg2"/>
        </a:buClr>
        <a:buSzPct val="55000"/>
        <a:buFont typeface="Wingdings" pitchFamily="2" charset="2"/>
        <a:buChar char="n"/>
        <a:defRPr>
          <a:solidFill>
            <a:schemeClr val="tx1"/>
          </a:solidFill>
          <a:latin typeface="+mn-lt"/>
          <a:ea typeface="Geneva" pitchFamily="68" charset="-128"/>
        </a:defRPr>
      </a:lvl7pPr>
      <a:lvl8pPr marL="3429000" indent="-228600" algn="l" rtl="0" eaLnBrk="1" fontAlgn="base" hangingPunct="1">
        <a:lnSpc>
          <a:spcPct val="90000"/>
        </a:lnSpc>
        <a:spcBef>
          <a:spcPct val="60000"/>
        </a:spcBef>
        <a:spcAft>
          <a:spcPct val="0"/>
        </a:spcAft>
        <a:buClr>
          <a:schemeClr val="bg2"/>
        </a:buClr>
        <a:buSzPct val="55000"/>
        <a:buFont typeface="Wingdings" pitchFamily="2" charset="2"/>
        <a:buChar char="n"/>
        <a:defRPr>
          <a:solidFill>
            <a:schemeClr val="tx1"/>
          </a:solidFill>
          <a:latin typeface="+mn-lt"/>
          <a:ea typeface="Geneva" pitchFamily="68" charset="-128"/>
        </a:defRPr>
      </a:lvl8pPr>
      <a:lvl9pPr marL="3886200" indent="-228600" algn="l" rtl="0" eaLnBrk="1" fontAlgn="base" hangingPunct="1">
        <a:lnSpc>
          <a:spcPct val="90000"/>
        </a:lnSpc>
        <a:spcBef>
          <a:spcPct val="60000"/>
        </a:spcBef>
        <a:spcAft>
          <a:spcPct val="0"/>
        </a:spcAft>
        <a:buClr>
          <a:schemeClr val="bg2"/>
        </a:buClr>
        <a:buSzPct val="55000"/>
        <a:buFont typeface="Wingdings" pitchFamily="2" charset="2"/>
        <a:buChar char="n"/>
        <a:defRPr>
          <a:solidFill>
            <a:schemeClr val="tx1"/>
          </a:solidFill>
          <a:latin typeface="+mn-lt"/>
          <a:ea typeface="Geneva" pitchFamily="68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5"/>
          <p:cNvSpPr>
            <a:spLocks noGrp="1" noChangeArrowheads="1"/>
          </p:cNvSpPr>
          <p:nvPr>
            <p:ph type="ctrTitle"/>
          </p:nvPr>
        </p:nvSpPr>
        <p:spPr>
          <a:xfrm>
            <a:off x="266700" y="3429000"/>
            <a:ext cx="8610600" cy="990600"/>
          </a:xfrm>
        </p:spPr>
        <p:txBody>
          <a:bodyPr/>
          <a:lstStyle/>
          <a:p>
            <a:r>
              <a:rPr lang="en-US" dirty="0" smtClean="0"/>
              <a:t>Understanding the Pace API</a:t>
            </a:r>
            <a:endParaRPr lang="en-US" dirty="0" smtClean="0">
              <a:ea typeface="Geneva"/>
            </a:endParaRPr>
          </a:p>
        </p:txBody>
      </p:sp>
      <p:pic>
        <p:nvPicPr>
          <p:cNvPr id="4" name="Picture 2" descr="C:\Documents and Settings\mikemurp\My Documents\images\apps solutions images\Pace_Box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934200" y="4475162"/>
            <a:ext cx="1860550" cy="2382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5613" y="1447800"/>
            <a:ext cx="8226425" cy="4519613"/>
          </a:xfrm>
        </p:spPr>
        <p:txBody>
          <a:bodyPr/>
          <a:lstStyle/>
          <a:p>
            <a:r>
              <a:rPr lang="en-US" dirty="0" smtClean="0">
                <a:ea typeface="Geneva"/>
              </a:rPr>
              <a:t>What is the Pace API?</a:t>
            </a:r>
          </a:p>
          <a:p>
            <a:r>
              <a:rPr lang="en-US" dirty="0" smtClean="0">
                <a:ea typeface="Geneva"/>
              </a:rPr>
              <a:t>What value does it provide for my business?</a:t>
            </a:r>
          </a:p>
          <a:p>
            <a:r>
              <a:rPr lang="en-US" dirty="0" smtClean="0">
                <a:ea typeface="Geneva"/>
              </a:rPr>
              <a:t>What can I do with the API?</a:t>
            </a:r>
          </a:p>
          <a:p>
            <a:r>
              <a:rPr lang="en-US" dirty="0" smtClean="0">
                <a:ea typeface="Geneva"/>
              </a:rPr>
              <a:t>What does it take to implement and support it?</a:t>
            </a:r>
          </a:p>
          <a:p>
            <a:pPr lvl="2"/>
            <a:endParaRPr lang="en-US" dirty="0" smtClean="0">
              <a:ea typeface="Geneva"/>
            </a:endParaRPr>
          </a:p>
        </p:txBody>
      </p:sp>
      <p:sp>
        <p:nvSpPr>
          <p:cNvPr id="14338" name="Title Placeholder 3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6425" cy="989013"/>
          </a:xfrm>
        </p:spPr>
        <p:txBody>
          <a:bodyPr/>
          <a:lstStyle/>
          <a:p>
            <a:r>
              <a:rPr lang="en-US" dirty="0" smtClean="0">
                <a:ea typeface="Geneva"/>
              </a:rPr>
              <a:t>Agenda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7" name="Picture 5" descr="Blu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114675"/>
            <a:ext cx="9144000" cy="374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818" name="Rectangle 11"/>
          <p:cNvSpPr>
            <a:spLocks noChangeArrowheads="1"/>
          </p:cNvSpPr>
          <p:nvPr/>
        </p:nvSpPr>
        <p:spPr bwMode="white">
          <a:xfrm>
            <a:off x="0" y="0"/>
            <a:ext cx="9144000" cy="12954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85000"/>
              </a:lnSpc>
            </a:pPr>
            <a:endParaRPr lang="en-US"/>
          </a:p>
        </p:txBody>
      </p:sp>
      <p:sp>
        <p:nvSpPr>
          <p:cNvPr id="34819" name="Rectangle 6"/>
          <p:cNvSpPr>
            <a:spLocks noGrp="1" noChangeArrowheads="1"/>
          </p:cNvSpPr>
          <p:nvPr>
            <p:ph type="ctrTitle" idx="4294967295"/>
          </p:nvPr>
        </p:nvSpPr>
        <p:spPr bwMode="white">
          <a:xfrm>
            <a:off x="533400" y="1752600"/>
            <a:ext cx="8077200" cy="1731963"/>
          </a:xfrm>
        </p:spPr>
        <p:txBody>
          <a:bodyPr/>
          <a:lstStyle/>
          <a:p>
            <a:pPr algn="ctr"/>
            <a:r>
              <a:rPr lang="en-US" sz="4000" dirty="0" smtClean="0">
                <a:ea typeface="Geneva"/>
              </a:rPr>
              <a:t>The Pace API</a:t>
            </a:r>
          </a:p>
        </p:txBody>
      </p:sp>
      <p:pic>
        <p:nvPicPr>
          <p:cNvPr id="34820" name="Picture 5" descr="stripe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3048000"/>
            <a:ext cx="9159875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81000" y="1981200"/>
            <a:ext cx="8226425" cy="2895600"/>
          </a:xfrm>
        </p:spPr>
        <p:txBody>
          <a:bodyPr/>
          <a:lstStyle/>
          <a:p>
            <a:r>
              <a:rPr lang="en-US" dirty="0" smtClean="0"/>
              <a:t>An </a:t>
            </a:r>
            <a:r>
              <a:rPr lang="en-US" b="1" dirty="0" smtClean="0"/>
              <a:t>Application Programming Interface</a:t>
            </a:r>
            <a:r>
              <a:rPr lang="en-US" dirty="0" smtClean="0"/>
              <a:t> (</a:t>
            </a:r>
            <a:r>
              <a:rPr lang="en-US" b="1" dirty="0" smtClean="0"/>
              <a:t>API</a:t>
            </a:r>
            <a:r>
              <a:rPr lang="en-US" dirty="0" smtClean="0"/>
              <a:t>) is an interface implemented by a software program to enable its interaction with other software</a:t>
            </a:r>
          </a:p>
          <a:p>
            <a:pPr lvl="1"/>
            <a:r>
              <a:rPr lang="en-US" sz="1600" dirty="0" smtClean="0">
                <a:ea typeface="Geneva"/>
              </a:rPr>
              <a:t>Similar to how a UI enables interaction between humans and computers.</a:t>
            </a:r>
            <a:endParaRPr lang="en-GB" sz="1600" dirty="0" smtClean="0">
              <a:ea typeface="Geneva"/>
            </a:endParaRPr>
          </a:p>
          <a:p>
            <a:pPr lvl="1">
              <a:lnSpc>
                <a:spcPct val="80000"/>
              </a:lnSpc>
              <a:spcBef>
                <a:spcPts val="600"/>
              </a:spcBef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000" dirty="0" smtClean="0">
              <a:ea typeface="Geneva"/>
            </a:endParaRPr>
          </a:p>
        </p:txBody>
      </p:sp>
      <p:sp>
        <p:nvSpPr>
          <p:cNvPr id="14338" name="Title Placeholder 3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6425" cy="989013"/>
          </a:xfrm>
        </p:spPr>
        <p:txBody>
          <a:bodyPr/>
          <a:lstStyle/>
          <a:p>
            <a:r>
              <a:rPr lang="en-US" dirty="0" smtClean="0">
                <a:ea typeface="Geneva"/>
              </a:rPr>
              <a:t>API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5613" y="1447800"/>
            <a:ext cx="8226425" cy="4519613"/>
          </a:xfrm>
        </p:spPr>
        <p:txBody>
          <a:bodyPr/>
          <a:lstStyle/>
          <a:p>
            <a:r>
              <a:rPr lang="en-US" dirty="0" smtClean="0">
                <a:ea typeface="Geneva"/>
              </a:rPr>
              <a:t>The Pace API enables other systems to interact through a series of services.</a:t>
            </a:r>
          </a:p>
          <a:p>
            <a:r>
              <a:rPr lang="en-US" dirty="0" smtClean="0">
                <a:ea typeface="Geneva"/>
              </a:rPr>
              <a:t>Services all are industry standard SOAP based </a:t>
            </a:r>
          </a:p>
          <a:p>
            <a:r>
              <a:rPr lang="en-US" dirty="0" smtClean="0">
                <a:ea typeface="Geneva"/>
              </a:rPr>
              <a:t>Enables two main types of interaction</a:t>
            </a:r>
          </a:p>
          <a:p>
            <a:pPr lvl="1"/>
            <a:r>
              <a:rPr lang="en-US" dirty="0" smtClean="0">
                <a:ea typeface="Geneva"/>
              </a:rPr>
              <a:t>Generic object access</a:t>
            </a:r>
          </a:p>
          <a:p>
            <a:pPr lvl="1"/>
            <a:r>
              <a:rPr lang="en-US" dirty="0" smtClean="0">
                <a:ea typeface="Geneva"/>
              </a:rPr>
              <a:t>Specific process execution</a:t>
            </a:r>
          </a:p>
          <a:p>
            <a:endParaRPr lang="en-US" dirty="0" smtClean="0">
              <a:ea typeface="Geneva"/>
            </a:endParaRPr>
          </a:p>
        </p:txBody>
      </p:sp>
      <p:sp>
        <p:nvSpPr>
          <p:cNvPr id="14338" name="Title Placeholder 3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6425" cy="989013"/>
          </a:xfrm>
        </p:spPr>
        <p:txBody>
          <a:bodyPr/>
          <a:lstStyle/>
          <a:p>
            <a:r>
              <a:rPr lang="en-US" dirty="0" smtClean="0">
                <a:ea typeface="Geneva"/>
              </a:rPr>
              <a:t>Pace API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6425" cy="4876800"/>
          </a:xfrm>
        </p:spPr>
        <p:txBody>
          <a:bodyPr/>
          <a:lstStyle/>
          <a:p>
            <a:r>
              <a:rPr lang="en-US" dirty="0" smtClean="0">
                <a:ea typeface="Geneva"/>
              </a:rPr>
              <a:t>Full CRUD capabilities against any object in Pace</a:t>
            </a:r>
          </a:p>
          <a:p>
            <a:pPr lvl="1"/>
            <a:r>
              <a:rPr lang="en-US" dirty="0" smtClean="0">
                <a:ea typeface="Geneva"/>
              </a:rPr>
              <a:t>Create – add a new object</a:t>
            </a:r>
          </a:p>
          <a:p>
            <a:pPr lvl="1"/>
            <a:r>
              <a:rPr lang="en-US" dirty="0" smtClean="0">
                <a:ea typeface="Geneva"/>
              </a:rPr>
              <a:t>Read – read attributes of an existing object</a:t>
            </a:r>
          </a:p>
          <a:p>
            <a:pPr lvl="1"/>
            <a:r>
              <a:rPr lang="en-US" dirty="0" smtClean="0">
                <a:ea typeface="Geneva"/>
              </a:rPr>
              <a:t>Update – change attributes of an existing object</a:t>
            </a:r>
          </a:p>
          <a:p>
            <a:pPr lvl="1"/>
            <a:r>
              <a:rPr lang="en-US" dirty="0" smtClean="0">
                <a:ea typeface="Geneva"/>
              </a:rPr>
              <a:t>Delete – delete an existing object</a:t>
            </a:r>
          </a:p>
          <a:p>
            <a:pPr lvl="1"/>
            <a:r>
              <a:rPr lang="en-US" dirty="0" smtClean="0">
                <a:ea typeface="Geneva"/>
              </a:rPr>
              <a:t>Clone – duplicate an existing object</a:t>
            </a:r>
          </a:p>
          <a:p>
            <a:pPr lvl="2">
              <a:buNone/>
            </a:pPr>
            <a:endParaRPr lang="en-US" dirty="0" smtClean="0">
              <a:ea typeface="Geneva"/>
            </a:endParaRPr>
          </a:p>
        </p:txBody>
      </p:sp>
      <p:sp>
        <p:nvSpPr>
          <p:cNvPr id="14338" name="Title Placeholder 3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6425" cy="989013"/>
          </a:xfrm>
        </p:spPr>
        <p:txBody>
          <a:bodyPr/>
          <a:lstStyle/>
          <a:p>
            <a:r>
              <a:rPr lang="en-US" dirty="0" smtClean="0">
                <a:ea typeface="Geneva"/>
              </a:rPr>
              <a:t>Object Access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6425" cy="4876800"/>
          </a:xfrm>
        </p:spPr>
        <p:txBody>
          <a:bodyPr/>
          <a:lstStyle/>
          <a:p>
            <a:r>
              <a:rPr lang="en-US" dirty="0" smtClean="0">
                <a:ea typeface="Geneva"/>
              </a:rPr>
              <a:t>Search, Sort, Paginate capabilities against any object in Pace</a:t>
            </a:r>
          </a:p>
          <a:p>
            <a:pPr lvl="1"/>
            <a:r>
              <a:rPr lang="en-US" dirty="0" smtClean="0">
                <a:ea typeface="Geneva"/>
              </a:rPr>
              <a:t>Find – search for a specific object</a:t>
            </a:r>
          </a:p>
          <a:p>
            <a:pPr lvl="1"/>
            <a:r>
              <a:rPr lang="en-US" dirty="0" err="1" smtClean="0">
                <a:ea typeface="Geneva"/>
              </a:rPr>
              <a:t>FindAndSort</a:t>
            </a:r>
            <a:r>
              <a:rPr lang="en-US" dirty="0" smtClean="0">
                <a:ea typeface="Geneva"/>
              </a:rPr>
              <a:t> – search and sort records of a specific object</a:t>
            </a:r>
          </a:p>
          <a:p>
            <a:pPr lvl="1"/>
            <a:r>
              <a:rPr lang="en-US" dirty="0" err="1" smtClean="0">
                <a:ea typeface="Geneva"/>
              </a:rPr>
              <a:t>FindObjectsAggregate</a:t>
            </a:r>
            <a:r>
              <a:rPr lang="en-US" dirty="0" smtClean="0">
                <a:ea typeface="Geneva"/>
              </a:rPr>
              <a:t> – search, sort and paginate records of a specific object</a:t>
            </a:r>
            <a:r>
              <a:rPr lang="en-US" dirty="0" smtClean="0">
                <a:ea typeface="Geneva"/>
              </a:rPr>
              <a:t>.</a:t>
            </a:r>
            <a:endParaRPr lang="en-US" dirty="0" smtClean="0">
              <a:ea typeface="Geneva"/>
            </a:endParaRPr>
          </a:p>
          <a:p>
            <a:pPr lvl="2">
              <a:buNone/>
            </a:pPr>
            <a:endParaRPr lang="en-US" dirty="0" smtClean="0">
              <a:ea typeface="Geneva"/>
            </a:endParaRPr>
          </a:p>
        </p:txBody>
      </p:sp>
      <p:sp>
        <p:nvSpPr>
          <p:cNvPr id="14338" name="Title Placeholder 3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6425" cy="989013"/>
          </a:xfrm>
        </p:spPr>
        <p:txBody>
          <a:bodyPr/>
          <a:lstStyle/>
          <a:p>
            <a:r>
              <a:rPr lang="en-US" dirty="0" smtClean="0">
                <a:ea typeface="Geneva"/>
              </a:rPr>
              <a:t>Object Access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6425" cy="4876800"/>
          </a:xfrm>
        </p:spPr>
        <p:txBody>
          <a:bodyPr/>
          <a:lstStyle/>
          <a:p>
            <a:r>
              <a:rPr lang="en-US" dirty="0" smtClean="0">
                <a:ea typeface="Geneva"/>
              </a:rPr>
              <a:t>Attachment Features</a:t>
            </a:r>
          </a:p>
          <a:p>
            <a:pPr lvl="1"/>
            <a:r>
              <a:rPr lang="en-US" dirty="0" smtClean="0">
                <a:ea typeface="Geneva"/>
              </a:rPr>
              <a:t>Attachments – read, update or delete for a specific object </a:t>
            </a:r>
          </a:p>
          <a:p>
            <a:pPr lvl="1"/>
            <a:r>
              <a:rPr lang="en-US" dirty="0" smtClean="0">
                <a:ea typeface="Geneva"/>
              </a:rPr>
              <a:t>Also works with objects/attributes added using the Customization Toolkit</a:t>
            </a:r>
          </a:p>
          <a:p>
            <a:pPr lvl="2">
              <a:buNone/>
            </a:pPr>
            <a:endParaRPr lang="en-US" dirty="0" smtClean="0">
              <a:ea typeface="Geneva"/>
            </a:endParaRPr>
          </a:p>
        </p:txBody>
      </p:sp>
      <p:sp>
        <p:nvSpPr>
          <p:cNvPr id="14338" name="Title Placeholder 3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6425" cy="989013"/>
          </a:xfrm>
        </p:spPr>
        <p:txBody>
          <a:bodyPr/>
          <a:lstStyle/>
          <a:p>
            <a:r>
              <a:rPr lang="en-US" dirty="0" smtClean="0">
                <a:ea typeface="Geneva"/>
              </a:rPr>
              <a:t>Object Access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5613" y="1447800"/>
            <a:ext cx="8226425" cy="4519613"/>
          </a:xfrm>
        </p:spPr>
        <p:txBody>
          <a:bodyPr/>
          <a:lstStyle/>
          <a:p>
            <a:r>
              <a:rPr lang="en-US" dirty="0" smtClean="0">
                <a:ea typeface="Geneva"/>
              </a:rPr>
              <a:t>Execute specific processes thru the API as if it were manually executed by a user</a:t>
            </a:r>
          </a:p>
          <a:p>
            <a:pPr lvl="1"/>
            <a:r>
              <a:rPr lang="en-US" dirty="0" smtClean="0">
                <a:ea typeface="Geneva"/>
              </a:rPr>
              <a:t>Post invoice batch</a:t>
            </a:r>
          </a:p>
          <a:p>
            <a:pPr lvl="1"/>
            <a:r>
              <a:rPr lang="en-US" dirty="0" smtClean="0">
                <a:ea typeface="Geneva"/>
              </a:rPr>
              <a:t>Refresh job plans</a:t>
            </a:r>
          </a:p>
          <a:p>
            <a:pPr lvl="1"/>
            <a:r>
              <a:rPr lang="en-US" dirty="0" smtClean="0">
                <a:ea typeface="Geneva"/>
              </a:rPr>
              <a:t>Post </a:t>
            </a:r>
            <a:r>
              <a:rPr lang="en-US" dirty="0" smtClean="0">
                <a:ea typeface="Geneva"/>
              </a:rPr>
              <a:t>inventory transactions</a:t>
            </a:r>
          </a:p>
          <a:p>
            <a:pPr lvl="1"/>
            <a:r>
              <a:rPr lang="en-US" dirty="0" smtClean="0">
                <a:ea typeface="Geneva"/>
              </a:rPr>
              <a:t>Auto invoice jobs</a:t>
            </a:r>
          </a:p>
          <a:p>
            <a:pPr lvl="1"/>
            <a:r>
              <a:rPr lang="en-US" dirty="0" smtClean="0">
                <a:ea typeface="Geneva"/>
              </a:rPr>
              <a:t>Process checks</a:t>
            </a:r>
          </a:p>
          <a:p>
            <a:pPr lvl="1"/>
            <a:r>
              <a:rPr lang="en-US" dirty="0" smtClean="0">
                <a:ea typeface="Geneva"/>
              </a:rPr>
              <a:t>Post checks</a:t>
            </a:r>
          </a:p>
          <a:p>
            <a:pPr lvl="2">
              <a:buNone/>
            </a:pPr>
            <a:endParaRPr lang="en-US" dirty="0" smtClean="0">
              <a:ea typeface="Geneva"/>
            </a:endParaRPr>
          </a:p>
        </p:txBody>
      </p:sp>
      <p:sp>
        <p:nvSpPr>
          <p:cNvPr id="14338" name="Title Placeholder 3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6425" cy="989013"/>
          </a:xfrm>
        </p:spPr>
        <p:txBody>
          <a:bodyPr/>
          <a:lstStyle/>
          <a:p>
            <a:r>
              <a:rPr lang="en-US" dirty="0" smtClean="0">
                <a:ea typeface="Geneva"/>
              </a:rPr>
              <a:t>Process Execution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5613" y="1447800"/>
            <a:ext cx="8226425" cy="4519613"/>
          </a:xfrm>
        </p:spPr>
        <p:txBody>
          <a:bodyPr/>
          <a:lstStyle/>
          <a:p>
            <a:r>
              <a:rPr lang="en-US" dirty="0" smtClean="0">
                <a:ea typeface="Geneva"/>
              </a:rPr>
              <a:t>Execute specific processes thru the API as if it were manually executed by a user</a:t>
            </a:r>
          </a:p>
          <a:p>
            <a:pPr lvl="1"/>
            <a:r>
              <a:rPr lang="en-US" dirty="0" smtClean="0">
                <a:ea typeface="Geneva"/>
              </a:rPr>
              <a:t>Generate auto invoicing</a:t>
            </a:r>
          </a:p>
          <a:p>
            <a:pPr lvl="1"/>
            <a:r>
              <a:rPr lang="en-US" dirty="0" smtClean="0">
                <a:ea typeface="Geneva"/>
              </a:rPr>
              <a:t>Post bill batches</a:t>
            </a:r>
          </a:p>
          <a:p>
            <a:pPr lvl="1"/>
            <a:r>
              <a:rPr lang="en-US" dirty="0" smtClean="0">
                <a:ea typeface="Geneva"/>
              </a:rPr>
              <a:t>Post GL batches</a:t>
            </a:r>
          </a:p>
          <a:p>
            <a:pPr lvl="1"/>
            <a:r>
              <a:rPr lang="en-US" dirty="0" smtClean="0">
                <a:ea typeface="Geneva"/>
              </a:rPr>
              <a:t>process job material prepare pick tickets</a:t>
            </a:r>
          </a:p>
          <a:p>
            <a:pPr lvl="1"/>
            <a:r>
              <a:rPr lang="en-US" dirty="0" smtClean="0">
                <a:ea typeface="Geneva"/>
              </a:rPr>
              <a:t>process job material commit pick tickets</a:t>
            </a:r>
          </a:p>
          <a:p>
            <a:pPr lvl="1"/>
            <a:r>
              <a:rPr lang="en-US" dirty="0" smtClean="0">
                <a:ea typeface="Geneva"/>
              </a:rPr>
              <a:t>process WIP</a:t>
            </a:r>
          </a:p>
          <a:p>
            <a:pPr lvl="1"/>
            <a:endParaRPr lang="en-US" dirty="0" smtClean="0">
              <a:ea typeface="Geneva"/>
            </a:endParaRPr>
          </a:p>
          <a:p>
            <a:pPr lvl="1"/>
            <a:endParaRPr lang="en-US" dirty="0" smtClean="0">
              <a:ea typeface="Geneva"/>
            </a:endParaRPr>
          </a:p>
          <a:p>
            <a:pPr lvl="2">
              <a:buNone/>
            </a:pPr>
            <a:endParaRPr lang="en-US" dirty="0" smtClean="0">
              <a:ea typeface="Geneva"/>
            </a:endParaRPr>
          </a:p>
        </p:txBody>
      </p:sp>
      <p:sp>
        <p:nvSpPr>
          <p:cNvPr id="14338" name="Title Placeholder 3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6425" cy="989013"/>
          </a:xfrm>
        </p:spPr>
        <p:txBody>
          <a:bodyPr/>
          <a:lstStyle/>
          <a:p>
            <a:r>
              <a:rPr lang="en-US" dirty="0" smtClean="0">
                <a:ea typeface="Geneva"/>
              </a:rPr>
              <a:t>Process Execution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5613" y="1447800"/>
            <a:ext cx="8226425" cy="4519613"/>
          </a:xfrm>
        </p:spPr>
        <p:txBody>
          <a:bodyPr/>
          <a:lstStyle/>
          <a:p>
            <a:r>
              <a:rPr lang="en-US" dirty="0" smtClean="0">
                <a:ea typeface="Geneva"/>
              </a:rPr>
              <a:t>Execute specific processes thru the API as if it were manually executed by a user</a:t>
            </a:r>
          </a:p>
          <a:p>
            <a:pPr lvl="1"/>
            <a:r>
              <a:rPr lang="en-US" dirty="0" smtClean="0">
                <a:ea typeface="Geneva"/>
              </a:rPr>
              <a:t>Compute customer service charges</a:t>
            </a:r>
          </a:p>
          <a:p>
            <a:pPr lvl="1"/>
            <a:r>
              <a:rPr lang="en-US" dirty="0" smtClean="0">
                <a:ea typeface="Geneva"/>
              </a:rPr>
              <a:t>Calculate the current accounting period</a:t>
            </a:r>
          </a:p>
          <a:p>
            <a:pPr lvl="1"/>
            <a:r>
              <a:rPr lang="en-US" dirty="0" smtClean="0">
                <a:ea typeface="Geneva"/>
              </a:rPr>
              <a:t>Close the current accounting period</a:t>
            </a:r>
          </a:p>
          <a:p>
            <a:pPr lvl="1"/>
            <a:r>
              <a:rPr lang="en-US" dirty="0" smtClean="0">
                <a:ea typeface="Geneva"/>
              </a:rPr>
              <a:t>Close the fiscal year</a:t>
            </a:r>
          </a:p>
          <a:p>
            <a:pPr lvl="1"/>
            <a:r>
              <a:rPr lang="en-US" dirty="0" smtClean="0">
                <a:ea typeface="Geneva"/>
              </a:rPr>
              <a:t>Reopen the last accounting period</a:t>
            </a:r>
          </a:p>
          <a:p>
            <a:pPr lvl="1"/>
            <a:r>
              <a:rPr lang="en-US" dirty="0" smtClean="0">
                <a:ea typeface="Geneva"/>
              </a:rPr>
              <a:t>Process job cost totals reset</a:t>
            </a:r>
          </a:p>
          <a:p>
            <a:pPr lvl="1"/>
            <a:endParaRPr lang="en-US" dirty="0" smtClean="0">
              <a:ea typeface="Geneva"/>
            </a:endParaRPr>
          </a:p>
          <a:p>
            <a:pPr lvl="1"/>
            <a:endParaRPr lang="en-US" dirty="0" smtClean="0">
              <a:ea typeface="Geneva"/>
            </a:endParaRPr>
          </a:p>
          <a:p>
            <a:pPr lvl="2">
              <a:buNone/>
            </a:pPr>
            <a:endParaRPr lang="en-US" dirty="0" smtClean="0">
              <a:ea typeface="Geneva"/>
            </a:endParaRPr>
          </a:p>
        </p:txBody>
      </p:sp>
      <p:sp>
        <p:nvSpPr>
          <p:cNvPr id="14338" name="Title Placeholder 3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6425" cy="989013"/>
          </a:xfrm>
        </p:spPr>
        <p:txBody>
          <a:bodyPr/>
          <a:lstStyle/>
          <a:p>
            <a:r>
              <a:rPr lang="en-US" dirty="0" smtClean="0">
                <a:ea typeface="Geneva"/>
              </a:rPr>
              <a:t>Process Execution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ea typeface="Geneva"/>
              </a:rPr>
              <a:t>Execute specific processes thru the API as if it were manually executed by a user</a:t>
            </a:r>
          </a:p>
          <a:p>
            <a:pPr lvl="1"/>
            <a:r>
              <a:rPr lang="en-US" dirty="0" smtClean="0">
                <a:ea typeface="Geneva"/>
              </a:rPr>
              <a:t>Invoke the scheduler</a:t>
            </a:r>
          </a:p>
          <a:p>
            <a:pPr lvl="1"/>
            <a:r>
              <a:rPr lang="en-US" dirty="0" smtClean="0">
                <a:ea typeface="Geneva"/>
              </a:rPr>
              <a:t>Process job transactions</a:t>
            </a:r>
          </a:p>
          <a:p>
            <a:pPr lvl="1"/>
            <a:r>
              <a:rPr lang="en-US" dirty="0" smtClean="0">
                <a:ea typeface="Geneva"/>
              </a:rPr>
              <a:t>Renumber bill checks</a:t>
            </a:r>
          </a:p>
          <a:p>
            <a:pPr lvl="1"/>
            <a:r>
              <a:rPr lang="en-US" dirty="0" smtClean="0">
                <a:ea typeface="Geneva"/>
              </a:rPr>
              <a:t>Auto pay bills</a:t>
            </a:r>
          </a:p>
          <a:p>
            <a:pPr lvl="1"/>
            <a:r>
              <a:rPr lang="en-US" dirty="0" smtClean="0">
                <a:ea typeface="Geneva"/>
              </a:rPr>
              <a:t>Auto invoice fulfillments jobs</a:t>
            </a:r>
          </a:p>
          <a:p>
            <a:pPr lvl="1"/>
            <a:r>
              <a:rPr lang="en-US" dirty="0" smtClean="0">
                <a:ea typeface="Geneva"/>
              </a:rPr>
              <a:t>Reconcile commissions</a:t>
            </a:r>
          </a:p>
          <a:p>
            <a:pPr lvl="1"/>
            <a:r>
              <a:rPr lang="en-US" dirty="0" smtClean="0">
                <a:ea typeface="Geneva"/>
              </a:rPr>
              <a:t>Refresh job plans</a:t>
            </a:r>
          </a:p>
          <a:p>
            <a:pPr lvl="1"/>
            <a:r>
              <a:rPr lang="en-US" dirty="0" smtClean="0">
                <a:ea typeface="Geneva"/>
              </a:rPr>
              <a:t>Execute Pace Connect </a:t>
            </a:r>
          </a:p>
          <a:p>
            <a:pPr lvl="1"/>
            <a:endParaRPr lang="en-US" dirty="0" smtClean="0">
              <a:ea typeface="Geneva"/>
            </a:endParaRPr>
          </a:p>
          <a:p>
            <a:pPr lvl="1"/>
            <a:endParaRPr lang="en-US" dirty="0" smtClean="0">
              <a:ea typeface="Geneva"/>
            </a:endParaRPr>
          </a:p>
          <a:p>
            <a:pPr lvl="2">
              <a:buNone/>
            </a:pPr>
            <a:endParaRPr lang="en-US" dirty="0" smtClean="0">
              <a:ea typeface="Geneva"/>
            </a:endParaRPr>
          </a:p>
        </p:txBody>
      </p:sp>
      <p:sp>
        <p:nvSpPr>
          <p:cNvPr id="14338" name="Title Placeholder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Geneva"/>
              </a:rPr>
              <a:t>Process Execution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Clr>
                <a:schemeClr val="accent1"/>
              </a:buClr>
            </a:pPr>
            <a:r>
              <a:rPr lang="en-US" dirty="0" smtClean="0">
                <a:ea typeface="Geneva"/>
              </a:rPr>
              <a:t>Execute specific </a:t>
            </a:r>
            <a:r>
              <a:rPr lang="en-US" dirty="0" smtClean="0">
                <a:ea typeface="Geneva"/>
              </a:rPr>
              <a:t>actions thru </a:t>
            </a:r>
            <a:r>
              <a:rPr lang="en-US" dirty="0" smtClean="0">
                <a:ea typeface="Geneva"/>
              </a:rPr>
              <a:t>the API as if it were manually executed by a user</a:t>
            </a:r>
          </a:p>
          <a:p>
            <a:pPr lvl="1"/>
            <a:r>
              <a:rPr lang="en-US" dirty="0" smtClean="0">
                <a:ea typeface="Geneva"/>
              </a:rPr>
              <a:t>Calculate estimate</a:t>
            </a:r>
          </a:p>
          <a:p>
            <a:pPr lvl="1"/>
            <a:r>
              <a:rPr lang="en-US" dirty="0" smtClean="0">
                <a:ea typeface="Geneva"/>
              </a:rPr>
              <a:t>Convert estimate to a job</a:t>
            </a:r>
          </a:p>
          <a:p>
            <a:pPr lvl="1"/>
            <a:r>
              <a:rPr lang="en-US" dirty="0" smtClean="0">
                <a:ea typeface="Geneva"/>
              </a:rPr>
              <a:t>Calculate quote</a:t>
            </a:r>
          </a:p>
          <a:p>
            <a:pPr lvl="1"/>
            <a:r>
              <a:rPr lang="en-US" dirty="0" smtClean="0">
                <a:ea typeface="Geneva"/>
              </a:rPr>
              <a:t>Convert quote to a job</a:t>
            </a:r>
          </a:p>
          <a:p>
            <a:pPr lvl="1"/>
            <a:r>
              <a:rPr lang="en-US" dirty="0" smtClean="0">
                <a:ea typeface="Geneva"/>
              </a:rPr>
              <a:t>Receive purchase order lines</a:t>
            </a:r>
            <a:endParaRPr lang="en-US" dirty="0" smtClean="0">
              <a:ea typeface="Geneva"/>
            </a:endParaRPr>
          </a:p>
          <a:p>
            <a:pPr lvl="1"/>
            <a:endParaRPr lang="en-US" dirty="0" smtClean="0">
              <a:ea typeface="Geneva"/>
            </a:endParaRPr>
          </a:p>
          <a:p>
            <a:pPr lvl="2">
              <a:buNone/>
            </a:pPr>
            <a:endParaRPr lang="en-US" dirty="0" smtClean="0">
              <a:ea typeface="Geneva"/>
            </a:endParaRPr>
          </a:p>
        </p:txBody>
      </p:sp>
      <p:sp>
        <p:nvSpPr>
          <p:cNvPr id="14338" name="Title Placeholder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Geneva"/>
              </a:rPr>
              <a:t>Invoke Actions</a:t>
            </a:r>
            <a:endParaRPr lang="en-US" dirty="0" smtClean="0">
              <a:ea typeface="Genev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Clr>
                <a:schemeClr val="accent1"/>
              </a:buClr>
            </a:pPr>
            <a:r>
              <a:rPr lang="en-US" dirty="0" smtClean="0">
                <a:ea typeface="Geneva"/>
              </a:rPr>
              <a:t>Add an attachment on a data object or its attribute</a:t>
            </a:r>
            <a:endParaRPr lang="en-US" dirty="0" smtClean="0">
              <a:ea typeface="Geneva"/>
            </a:endParaRPr>
          </a:p>
          <a:p>
            <a:pPr lvl="1"/>
            <a:r>
              <a:rPr lang="en-US" dirty="0" smtClean="0">
                <a:ea typeface="Geneva"/>
              </a:rPr>
              <a:t>Add attachment</a:t>
            </a:r>
          </a:p>
          <a:p>
            <a:pPr lvl="1"/>
            <a:r>
              <a:rPr lang="en-US" dirty="0" smtClean="0">
                <a:ea typeface="Geneva"/>
              </a:rPr>
              <a:t>Retrieve attachment using vault key</a:t>
            </a:r>
          </a:p>
          <a:p>
            <a:pPr lvl="1"/>
            <a:r>
              <a:rPr lang="en-US" dirty="0" smtClean="0">
                <a:ea typeface="Geneva"/>
              </a:rPr>
              <a:t>Retrieve all attachments on a data object or its attribute</a:t>
            </a:r>
          </a:p>
          <a:p>
            <a:pPr lvl="1"/>
            <a:r>
              <a:rPr lang="en-US" dirty="0" smtClean="0">
                <a:ea typeface="Geneva"/>
              </a:rPr>
              <a:t>Remove a single attachment</a:t>
            </a:r>
          </a:p>
          <a:p>
            <a:pPr lvl="1"/>
            <a:r>
              <a:rPr lang="en-US" dirty="0" smtClean="0">
                <a:ea typeface="Geneva"/>
              </a:rPr>
              <a:t>Remove all attachments</a:t>
            </a:r>
          </a:p>
          <a:p>
            <a:pPr lvl="1"/>
            <a:endParaRPr lang="en-US" dirty="0" smtClean="0">
              <a:ea typeface="Geneva"/>
            </a:endParaRPr>
          </a:p>
          <a:p>
            <a:pPr lvl="1"/>
            <a:endParaRPr lang="en-US" dirty="0" smtClean="0">
              <a:ea typeface="Geneva"/>
            </a:endParaRPr>
          </a:p>
          <a:p>
            <a:pPr lvl="2">
              <a:buNone/>
            </a:pPr>
            <a:endParaRPr lang="en-US" dirty="0" smtClean="0">
              <a:ea typeface="Geneva"/>
            </a:endParaRPr>
          </a:p>
        </p:txBody>
      </p:sp>
      <p:sp>
        <p:nvSpPr>
          <p:cNvPr id="14338" name="Title Placeholder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Geneva"/>
              </a:rPr>
              <a:t>Attachments</a:t>
            </a:r>
            <a:endParaRPr lang="en-US" dirty="0" smtClean="0">
              <a:ea typeface="Genev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5613" y="1447800"/>
            <a:ext cx="8226425" cy="4519613"/>
          </a:xfrm>
        </p:spPr>
        <p:txBody>
          <a:bodyPr/>
          <a:lstStyle/>
          <a:p>
            <a:r>
              <a:rPr lang="en-US" dirty="0" smtClean="0">
                <a:ea typeface="Geneva"/>
              </a:rPr>
              <a:t>System Inspect through the API as if it were manually inspected by a user</a:t>
            </a:r>
            <a:endParaRPr lang="en-US" dirty="0" smtClean="0">
              <a:ea typeface="Geneva"/>
            </a:endParaRPr>
          </a:p>
          <a:p>
            <a:pPr lvl="1"/>
            <a:r>
              <a:rPr lang="en-US" dirty="0" smtClean="0">
                <a:ea typeface="Geneva"/>
              </a:rPr>
              <a:t>Custom Report Files</a:t>
            </a:r>
          </a:p>
          <a:p>
            <a:pPr lvl="1"/>
            <a:r>
              <a:rPr lang="en-US" dirty="0" smtClean="0">
                <a:ea typeface="Geneva"/>
              </a:rPr>
              <a:t>Inspect </a:t>
            </a:r>
            <a:r>
              <a:rPr lang="en-US" dirty="0" err="1" smtClean="0">
                <a:ea typeface="Geneva"/>
              </a:rPr>
              <a:t>ePace</a:t>
            </a:r>
            <a:r>
              <a:rPr lang="en-US" dirty="0" smtClean="0">
                <a:ea typeface="Geneva"/>
              </a:rPr>
              <a:t>, </a:t>
            </a:r>
            <a:r>
              <a:rPr lang="en-US" dirty="0" err="1" smtClean="0">
                <a:ea typeface="Geneva"/>
              </a:rPr>
              <a:t>emobile</a:t>
            </a:r>
            <a:r>
              <a:rPr lang="en-US" dirty="0" smtClean="0">
                <a:ea typeface="Geneva"/>
              </a:rPr>
              <a:t> </a:t>
            </a:r>
            <a:r>
              <a:rPr lang="en-US" dirty="0" smtClean="0">
                <a:ea typeface="Geneva"/>
              </a:rPr>
              <a:t>and eservice</a:t>
            </a:r>
          </a:p>
          <a:p>
            <a:pPr lvl="2"/>
            <a:r>
              <a:rPr lang="en-US" dirty="0" smtClean="0">
                <a:ea typeface="Geneva"/>
              </a:rPr>
              <a:t>Custom Menus</a:t>
            </a:r>
          </a:p>
          <a:p>
            <a:pPr lvl="2"/>
            <a:r>
              <a:rPr lang="en-US" dirty="0" smtClean="0">
                <a:ea typeface="Geneva"/>
              </a:rPr>
              <a:t>Custom Object Contexts</a:t>
            </a:r>
          </a:p>
          <a:p>
            <a:pPr lvl="2"/>
            <a:r>
              <a:rPr lang="en-US" dirty="0" smtClean="0">
                <a:ea typeface="Geneva"/>
              </a:rPr>
              <a:t>Forms</a:t>
            </a:r>
          </a:p>
          <a:p>
            <a:pPr lvl="2"/>
            <a:endParaRPr lang="en-US" dirty="0" smtClean="0">
              <a:ea typeface="Geneva"/>
            </a:endParaRPr>
          </a:p>
          <a:p>
            <a:pPr lvl="1"/>
            <a:endParaRPr lang="en-US" dirty="0" smtClean="0">
              <a:ea typeface="Geneva"/>
            </a:endParaRPr>
          </a:p>
          <a:p>
            <a:pPr lvl="1"/>
            <a:endParaRPr lang="en-US" dirty="0" smtClean="0">
              <a:ea typeface="Geneva"/>
            </a:endParaRPr>
          </a:p>
          <a:p>
            <a:pPr lvl="2">
              <a:buNone/>
            </a:pPr>
            <a:endParaRPr lang="en-US" dirty="0" smtClean="0">
              <a:ea typeface="Geneva"/>
            </a:endParaRPr>
          </a:p>
        </p:txBody>
      </p:sp>
      <p:sp>
        <p:nvSpPr>
          <p:cNvPr id="14338" name="Title Placeholder 3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6425" cy="989013"/>
          </a:xfrm>
        </p:spPr>
        <p:txBody>
          <a:bodyPr/>
          <a:lstStyle/>
          <a:p>
            <a:r>
              <a:rPr lang="en-US" dirty="0" smtClean="0">
                <a:ea typeface="Geneva"/>
              </a:rPr>
              <a:t>System Inspection</a:t>
            </a:r>
            <a:endParaRPr lang="en-US" dirty="0" smtClean="0">
              <a:ea typeface="Genev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5613" y="1447800"/>
            <a:ext cx="8226425" cy="4519613"/>
          </a:xfrm>
        </p:spPr>
        <p:txBody>
          <a:bodyPr/>
          <a:lstStyle/>
          <a:p>
            <a:r>
              <a:rPr lang="en-US" dirty="0" smtClean="0">
                <a:ea typeface="Geneva"/>
              </a:rPr>
              <a:t>System Inspect through the API as if it were manually inspected by a user</a:t>
            </a:r>
            <a:endParaRPr lang="en-US" dirty="0" smtClean="0">
              <a:ea typeface="Geneva"/>
            </a:endParaRPr>
          </a:p>
          <a:p>
            <a:pPr lvl="1"/>
            <a:r>
              <a:rPr lang="en-US" dirty="0" smtClean="0">
                <a:ea typeface="Geneva"/>
              </a:rPr>
              <a:t>XPath Calculated Fields</a:t>
            </a:r>
          </a:p>
          <a:p>
            <a:pPr lvl="1"/>
            <a:r>
              <a:rPr lang="en-US" dirty="0" smtClean="0">
                <a:ea typeface="Geneva"/>
              </a:rPr>
              <a:t>XPath Report parameters</a:t>
            </a:r>
          </a:p>
          <a:p>
            <a:pPr lvl="1"/>
            <a:r>
              <a:rPr lang="en-US" dirty="0" smtClean="0">
                <a:ea typeface="Geneva"/>
              </a:rPr>
              <a:t>XPath condition verification</a:t>
            </a:r>
          </a:p>
          <a:p>
            <a:pPr lvl="1"/>
            <a:r>
              <a:rPr lang="en-US" dirty="0" smtClean="0">
                <a:ea typeface="Geneva"/>
              </a:rPr>
              <a:t>XPath Defaults - On Create </a:t>
            </a:r>
            <a:endParaRPr lang="en-US" dirty="0" smtClean="0">
              <a:ea typeface="Geneva"/>
            </a:endParaRPr>
          </a:p>
          <a:p>
            <a:pPr lvl="1"/>
            <a:r>
              <a:rPr lang="en-US" dirty="0" smtClean="0">
                <a:ea typeface="Geneva"/>
              </a:rPr>
              <a:t>XPath Defaults - On </a:t>
            </a:r>
            <a:r>
              <a:rPr lang="en-US" dirty="0" smtClean="0">
                <a:ea typeface="Geneva"/>
              </a:rPr>
              <a:t>Persist</a:t>
            </a:r>
          </a:p>
          <a:p>
            <a:pPr lvl="1"/>
            <a:r>
              <a:rPr lang="en-US" dirty="0" err="1" smtClean="0">
                <a:ea typeface="Geneva"/>
              </a:rPr>
              <a:t>XPaths</a:t>
            </a:r>
            <a:r>
              <a:rPr lang="en-US" dirty="0" smtClean="0">
                <a:ea typeface="Geneva"/>
              </a:rPr>
              <a:t> in Event Handlers </a:t>
            </a:r>
            <a:endParaRPr lang="en-US" dirty="0" smtClean="0">
              <a:ea typeface="Geneva"/>
            </a:endParaRPr>
          </a:p>
          <a:p>
            <a:pPr lvl="2"/>
            <a:endParaRPr lang="en-US" dirty="0" smtClean="0">
              <a:ea typeface="Geneva"/>
            </a:endParaRPr>
          </a:p>
          <a:p>
            <a:pPr lvl="1"/>
            <a:endParaRPr lang="en-US" dirty="0" smtClean="0">
              <a:ea typeface="Geneva"/>
            </a:endParaRPr>
          </a:p>
          <a:p>
            <a:pPr lvl="1"/>
            <a:endParaRPr lang="en-US" dirty="0" smtClean="0">
              <a:ea typeface="Geneva"/>
            </a:endParaRPr>
          </a:p>
          <a:p>
            <a:pPr lvl="2">
              <a:buNone/>
            </a:pPr>
            <a:endParaRPr lang="en-US" dirty="0" smtClean="0">
              <a:ea typeface="Geneva"/>
            </a:endParaRPr>
          </a:p>
        </p:txBody>
      </p:sp>
      <p:sp>
        <p:nvSpPr>
          <p:cNvPr id="14338" name="Title Placeholder 3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6425" cy="989013"/>
          </a:xfrm>
        </p:spPr>
        <p:txBody>
          <a:bodyPr/>
          <a:lstStyle/>
          <a:p>
            <a:r>
              <a:rPr lang="en-US" dirty="0" smtClean="0">
                <a:ea typeface="Geneva"/>
              </a:rPr>
              <a:t>System Inspection</a:t>
            </a:r>
            <a:endParaRPr lang="en-US" dirty="0" smtClean="0">
              <a:ea typeface="Genev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5613" y="1447800"/>
            <a:ext cx="8226425" cy="4519613"/>
          </a:xfrm>
        </p:spPr>
        <p:txBody>
          <a:bodyPr/>
          <a:lstStyle/>
          <a:p>
            <a:r>
              <a:rPr lang="en-US" dirty="0" smtClean="0">
                <a:ea typeface="Geneva"/>
              </a:rPr>
              <a:t>Find the contacts based on Latitude and longitude</a:t>
            </a:r>
          </a:p>
          <a:p>
            <a:r>
              <a:rPr lang="en-US" dirty="0" smtClean="0">
                <a:ea typeface="Geneva"/>
              </a:rPr>
              <a:t>Find version of EFI Pace System</a:t>
            </a:r>
          </a:p>
          <a:p>
            <a:r>
              <a:rPr lang="en-US" dirty="0" smtClean="0">
                <a:ea typeface="Geneva"/>
              </a:rPr>
              <a:t>Find Company</a:t>
            </a:r>
            <a:endParaRPr lang="en-US" dirty="0" smtClean="0">
              <a:ea typeface="Geneva"/>
            </a:endParaRPr>
          </a:p>
          <a:p>
            <a:pPr lvl="1"/>
            <a:endParaRPr lang="en-US" dirty="0" smtClean="0">
              <a:ea typeface="Geneva"/>
            </a:endParaRPr>
          </a:p>
          <a:p>
            <a:pPr lvl="2"/>
            <a:endParaRPr lang="en-US" dirty="0" smtClean="0">
              <a:ea typeface="Geneva"/>
            </a:endParaRPr>
          </a:p>
          <a:p>
            <a:pPr lvl="1"/>
            <a:endParaRPr lang="en-US" dirty="0" smtClean="0">
              <a:ea typeface="Geneva"/>
            </a:endParaRPr>
          </a:p>
          <a:p>
            <a:pPr lvl="1"/>
            <a:endParaRPr lang="en-US" dirty="0" smtClean="0">
              <a:ea typeface="Geneva"/>
            </a:endParaRPr>
          </a:p>
          <a:p>
            <a:pPr lvl="2">
              <a:buNone/>
            </a:pPr>
            <a:endParaRPr lang="en-US" dirty="0" smtClean="0">
              <a:ea typeface="Geneva"/>
            </a:endParaRPr>
          </a:p>
        </p:txBody>
      </p:sp>
      <p:sp>
        <p:nvSpPr>
          <p:cNvPr id="14338" name="Title Placeholder 3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6425" cy="989013"/>
          </a:xfrm>
        </p:spPr>
        <p:txBody>
          <a:bodyPr/>
          <a:lstStyle/>
          <a:p>
            <a:r>
              <a:rPr lang="en-US" dirty="0" smtClean="0">
                <a:ea typeface="Geneva"/>
              </a:rPr>
              <a:t>Other Pace APIs</a:t>
            </a:r>
            <a:endParaRPr lang="en-US" dirty="0" smtClean="0">
              <a:ea typeface="Genev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5613" y="1447800"/>
            <a:ext cx="8226425" cy="4519613"/>
          </a:xfrm>
        </p:spPr>
        <p:txBody>
          <a:bodyPr/>
          <a:lstStyle/>
          <a:p>
            <a:r>
              <a:rPr lang="en-US" dirty="0" smtClean="0">
                <a:ea typeface="Geneva"/>
              </a:rPr>
              <a:t>Available from your Pace system when you license the API</a:t>
            </a:r>
          </a:p>
          <a:p>
            <a:r>
              <a:rPr lang="en-US" dirty="0" smtClean="0">
                <a:ea typeface="Geneva"/>
              </a:rPr>
              <a:t>Documentation of every process available to execute</a:t>
            </a:r>
          </a:p>
          <a:p>
            <a:r>
              <a:rPr lang="en-US" dirty="0" smtClean="0">
                <a:ea typeface="Geneva"/>
              </a:rPr>
              <a:t>Code samples in Java, </a:t>
            </a:r>
            <a:r>
              <a:rPr lang="en-US" dirty="0" err="1" smtClean="0">
                <a:ea typeface="Geneva"/>
              </a:rPr>
              <a:t>C#.Net</a:t>
            </a:r>
            <a:r>
              <a:rPr lang="en-US" dirty="0" smtClean="0">
                <a:ea typeface="Geneva"/>
              </a:rPr>
              <a:t>, </a:t>
            </a:r>
            <a:r>
              <a:rPr lang="en-US" dirty="0" err="1" smtClean="0">
                <a:ea typeface="Geneva"/>
              </a:rPr>
              <a:t>VB.Net</a:t>
            </a:r>
            <a:r>
              <a:rPr lang="en-US" smtClean="0">
                <a:ea typeface="Geneva"/>
              </a:rPr>
              <a:t>, Perl </a:t>
            </a:r>
            <a:r>
              <a:rPr lang="en-US" dirty="0" smtClean="0">
                <a:ea typeface="Geneva"/>
              </a:rPr>
              <a:t>and PHP</a:t>
            </a:r>
          </a:p>
        </p:txBody>
      </p:sp>
      <p:sp>
        <p:nvSpPr>
          <p:cNvPr id="14338" name="Title Placeholder 3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6425" cy="989013"/>
          </a:xfrm>
        </p:spPr>
        <p:txBody>
          <a:bodyPr/>
          <a:lstStyle/>
          <a:p>
            <a:r>
              <a:rPr lang="en-US" dirty="0" smtClean="0">
                <a:ea typeface="Geneva"/>
              </a:rPr>
              <a:t>API SDK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3" name="Picture 5" descr="Gree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036888"/>
            <a:ext cx="9144000" cy="3821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74" name="Rectangle 11"/>
          <p:cNvSpPr>
            <a:spLocks noChangeArrowheads="1"/>
          </p:cNvSpPr>
          <p:nvPr/>
        </p:nvSpPr>
        <p:spPr bwMode="white">
          <a:xfrm>
            <a:off x="0" y="0"/>
            <a:ext cx="9144000" cy="12954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85000"/>
              </a:lnSpc>
            </a:pPr>
            <a:endParaRPr lang="en-US"/>
          </a:p>
        </p:txBody>
      </p:sp>
      <p:sp>
        <p:nvSpPr>
          <p:cNvPr id="28675" name="Rectangle 6"/>
          <p:cNvSpPr>
            <a:spLocks noGrp="1" noChangeArrowheads="1"/>
          </p:cNvSpPr>
          <p:nvPr>
            <p:ph type="ctrTitle" idx="4294967295"/>
          </p:nvPr>
        </p:nvSpPr>
        <p:spPr bwMode="white">
          <a:xfrm>
            <a:off x="914400" y="1752600"/>
            <a:ext cx="7315200" cy="1731963"/>
          </a:xfrm>
        </p:spPr>
        <p:txBody>
          <a:bodyPr/>
          <a:lstStyle/>
          <a:p>
            <a:pPr algn="ctr"/>
            <a:r>
              <a:rPr lang="en-US" sz="4000" dirty="0" smtClean="0">
                <a:ea typeface="Geneva"/>
              </a:rPr>
              <a:t>Why do I need the API?</a:t>
            </a:r>
          </a:p>
        </p:txBody>
      </p:sp>
      <p:pic>
        <p:nvPicPr>
          <p:cNvPr id="28676" name="Picture 5" descr="stripe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3048000"/>
            <a:ext cx="9159875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5613" y="1447800"/>
            <a:ext cx="8226425" cy="4519613"/>
          </a:xfrm>
        </p:spPr>
        <p:txBody>
          <a:bodyPr/>
          <a:lstStyle/>
          <a:p>
            <a:r>
              <a:rPr lang="en-US" dirty="0" smtClean="0">
                <a:ea typeface="Geneva"/>
              </a:rPr>
              <a:t>API enables you to control how the integration works</a:t>
            </a:r>
          </a:p>
          <a:p>
            <a:pPr lvl="1"/>
            <a:r>
              <a:rPr lang="en-US" dirty="0" smtClean="0">
                <a:ea typeface="Geneva"/>
              </a:rPr>
              <a:t>Your business model</a:t>
            </a:r>
          </a:p>
          <a:p>
            <a:pPr lvl="1"/>
            <a:r>
              <a:rPr lang="en-US" dirty="0" smtClean="0">
                <a:ea typeface="Geneva"/>
              </a:rPr>
              <a:t>Your goals</a:t>
            </a:r>
          </a:p>
          <a:p>
            <a:pPr lvl="1"/>
            <a:r>
              <a:rPr lang="en-US" dirty="0" smtClean="0">
                <a:ea typeface="Geneva"/>
              </a:rPr>
              <a:t>Your competitive advantage</a:t>
            </a:r>
          </a:p>
          <a:p>
            <a:pPr lvl="2"/>
            <a:endParaRPr lang="en-US" dirty="0" smtClean="0">
              <a:ea typeface="Geneva"/>
            </a:endParaRPr>
          </a:p>
        </p:txBody>
      </p:sp>
      <p:sp>
        <p:nvSpPr>
          <p:cNvPr id="14338" name="Title Placeholder 3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6425" cy="989013"/>
          </a:xfrm>
        </p:spPr>
        <p:txBody>
          <a:bodyPr/>
          <a:lstStyle/>
          <a:p>
            <a:r>
              <a:rPr lang="en-US" dirty="0" smtClean="0">
                <a:ea typeface="Geneva"/>
              </a:rPr>
              <a:t>Control Your Integrations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Placeholder 3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6425" cy="989013"/>
          </a:xfrm>
        </p:spPr>
        <p:txBody>
          <a:bodyPr/>
          <a:lstStyle/>
          <a:p>
            <a:r>
              <a:rPr lang="en-US" dirty="0" smtClean="0">
                <a:ea typeface="Geneva"/>
              </a:rPr>
              <a:t>Custom Solutions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API is most commonly used to integrate custom solutions</a:t>
            </a:r>
          </a:p>
          <a:p>
            <a:pPr lvl="1"/>
            <a:r>
              <a:rPr lang="en-US" dirty="0" err="1" smtClean="0"/>
              <a:t>eCommerce</a:t>
            </a:r>
            <a:r>
              <a:rPr lang="en-US" dirty="0" smtClean="0"/>
              <a:t> portals</a:t>
            </a:r>
          </a:p>
          <a:p>
            <a:pPr lvl="1"/>
            <a:r>
              <a:rPr lang="en-US" dirty="0" smtClean="0"/>
              <a:t>Buyer procurement systems</a:t>
            </a:r>
          </a:p>
          <a:p>
            <a:pPr lvl="1"/>
            <a:r>
              <a:rPr lang="en-US" dirty="0" smtClean="0"/>
              <a:t>Warehouse and shipping systems</a:t>
            </a:r>
          </a:p>
          <a:p>
            <a:pPr lvl="1"/>
            <a:r>
              <a:rPr lang="en-US" dirty="0" smtClean="0"/>
              <a:t>VDP applications</a:t>
            </a:r>
          </a:p>
          <a:p>
            <a:pPr lvl="1"/>
            <a:r>
              <a:rPr lang="en-US" dirty="0" smtClean="0"/>
              <a:t>Mailing list tools</a:t>
            </a:r>
          </a:p>
          <a:p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Placeholder 3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6425" cy="989013"/>
          </a:xfrm>
        </p:spPr>
        <p:txBody>
          <a:bodyPr/>
          <a:lstStyle/>
          <a:p>
            <a:r>
              <a:rPr lang="en-US" dirty="0" smtClean="0">
                <a:ea typeface="Geneva"/>
              </a:rPr>
              <a:t>3rd Party Solutions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API allows your other vendors to build integration to Pace</a:t>
            </a:r>
          </a:p>
          <a:p>
            <a:pPr lvl="1"/>
            <a:r>
              <a:rPr lang="en-US" dirty="0" err="1" smtClean="0"/>
              <a:t>Smartlinc</a:t>
            </a:r>
            <a:endParaRPr lang="en-US" dirty="0" smtClean="0"/>
          </a:p>
          <a:p>
            <a:pPr lvl="1"/>
            <a:r>
              <a:rPr lang="en-US" dirty="0" smtClean="0"/>
              <a:t>RSI</a:t>
            </a:r>
          </a:p>
          <a:p>
            <a:pPr lvl="1"/>
            <a:r>
              <a:rPr lang="en-US" dirty="0" smtClean="0"/>
              <a:t>Many others have expressed interest</a:t>
            </a:r>
          </a:p>
          <a:p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1" name="Picture 5" descr="R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070225"/>
            <a:ext cx="9144000" cy="378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2" name="Rectangle 11"/>
          <p:cNvSpPr>
            <a:spLocks noChangeArrowheads="1"/>
          </p:cNvSpPr>
          <p:nvPr/>
        </p:nvSpPr>
        <p:spPr bwMode="white">
          <a:xfrm>
            <a:off x="0" y="0"/>
            <a:ext cx="9144000" cy="12954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85000"/>
              </a:lnSpc>
            </a:pPr>
            <a:endParaRPr lang="en-US"/>
          </a:p>
        </p:txBody>
      </p:sp>
      <p:sp>
        <p:nvSpPr>
          <p:cNvPr id="30723" name="Rectangle 6"/>
          <p:cNvSpPr>
            <a:spLocks noGrp="1" noChangeArrowheads="1"/>
          </p:cNvSpPr>
          <p:nvPr>
            <p:ph type="ctrTitle" idx="4294967295"/>
          </p:nvPr>
        </p:nvSpPr>
        <p:spPr bwMode="white">
          <a:xfrm>
            <a:off x="914400" y="1752600"/>
            <a:ext cx="7315200" cy="1731963"/>
          </a:xfrm>
        </p:spPr>
        <p:txBody>
          <a:bodyPr/>
          <a:lstStyle/>
          <a:p>
            <a:pPr algn="ctr"/>
            <a:r>
              <a:rPr lang="en-US" sz="4000" dirty="0" smtClean="0">
                <a:ea typeface="Geneva"/>
              </a:rPr>
              <a:t>API Examples</a:t>
            </a:r>
          </a:p>
        </p:txBody>
      </p:sp>
      <p:pic>
        <p:nvPicPr>
          <p:cNvPr id="30724" name="Picture 5" descr="stripe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3048000"/>
            <a:ext cx="9159875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5613" y="1219200"/>
            <a:ext cx="8226425" cy="4748213"/>
          </a:xfrm>
        </p:spPr>
        <p:txBody>
          <a:bodyPr/>
          <a:lstStyle/>
          <a:p>
            <a:r>
              <a:rPr lang="en-US" dirty="0" smtClean="0">
                <a:ea typeface="Geneva"/>
              </a:rPr>
              <a:t>#1 example of using API</a:t>
            </a:r>
          </a:p>
          <a:p>
            <a:pPr lvl="1"/>
            <a:r>
              <a:rPr lang="en-US" dirty="0" smtClean="0">
                <a:ea typeface="Geneva"/>
              </a:rPr>
              <a:t>Create job, parts, shipments from custom website when order is placed</a:t>
            </a:r>
          </a:p>
          <a:p>
            <a:pPr lvl="1"/>
            <a:r>
              <a:rPr lang="en-US" dirty="0" smtClean="0">
                <a:ea typeface="Geneva"/>
              </a:rPr>
              <a:t>Trigger creation of production data using </a:t>
            </a:r>
            <a:r>
              <a:rPr lang="en-US" dirty="0" err="1" smtClean="0">
                <a:ea typeface="Geneva"/>
              </a:rPr>
              <a:t>ItemTemplates</a:t>
            </a:r>
            <a:endParaRPr lang="en-US" dirty="0" smtClean="0">
              <a:ea typeface="Geneva"/>
            </a:endParaRPr>
          </a:p>
          <a:p>
            <a:pPr lvl="1"/>
            <a:r>
              <a:rPr lang="en-US" dirty="0" smtClean="0">
                <a:ea typeface="Geneva"/>
              </a:rPr>
              <a:t>Get updates on order status</a:t>
            </a:r>
          </a:p>
          <a:p>
            <a:pPr lvl="2">
              <a:buNone/>
            </a:pPr>
            <a:endParaRPr lang="en-US" dirty="0" smtClean="0">
              <a:ea typeface="Geneva"/>
            </a:endParaRPr>
          </a:p>
        </p:txBody>
      </p:sp>
      <p:sp>
        <p:nvSpPr>
          <p:cNvPr id="14338" name="Title Placeholder 3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6425" cy="989013"/>
          </a:xfrm>
        </p:spPr>
        <p:txBody>
          <a:bodyPr/>
          <a:lstStyle/>
          <a:p>
            <a:r>
              <a:rPr lang="en-US" dirty="0" smtClean="0">
                <a:ea typeface="Geneva"/>
              </a:rPr>
              <a:t>Simple </a:t>
            </a:r>
            <a:r>
              <a:rPr lang="en-US" dirty="0" err="1" smtClean="0">
                <a:ea typeface="Geneva"/>
              </a:rPr>
              <a:t>eCommerce</a:t>
            </a:r>
            <a:endParaRPr lang="en-US" dirty="0" smtClean="0">
              <a:ea typeface="Genev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5613" y="1447800"/>
            <a:ext cx="8231187" cy="4519613"/>
          </a:xfrm>
        </p:spPr>
        <p:txBody>
          <a:bodyPr/>
          <a:lstStyle/>
          <a:p>
            <a:r>
              <a:rPr lang="en-US" dirty="0" err="1" smtClean="0">
                <a:ea typeface="Geneva"/>
              </a:rPr>
              <a:t>Smartlinc</a:t>
            </a:r>
            <a:r>
              <a:rPr lang="en-US" dirty="0" smtClean="0">
                <a:ea typeface="Geneva"/>
              </a:rPr>
              <a:t> shipment system</a:t>
            </a:r>
          </a:p>
          <a:p>
            <a:pPr lvl="1"/>
            <a:r>
              <a:rPr lang="en-US" dirty="0" smtClean="0">
                <a:ea typeface="Geneva"/>
              </a:rPr>
              <a:t>Planned shipment read into the UI</a:t>
            </a:r>
          </a:p>
          <a:p>
            <a:pPr lvl="1"/>
            <a:r>
              <a:rPr lang="en-US" dirty="0" smtClean="0">
                <a:ea typeface="Geneva"/>
              </a:rPr>
              <a:t>New shipment created</a:t>
            </a:r>
          </a:p>
          <a:p>
            <a:pPr lvl="2"/>
            <a:r>
              <a:rPr lang="en-US" dirty="0" smtClean="0">
                <a:ea typeface="Geneva"/>
              </a:rPr>
              <a:t>Updated address if necessary</a:t>
            </a:r>
          </a:p>
          <a:p>
            <a:pPr lvl="2"/>
            <a:r>
              <a:rPr lang="en-US" dirty="0" smtClean="0">
                <a:ea typeface="Geneva"/>
              </a:rPr>
              <a:t>Real costs</a:t>
            </a:r>
          </a:p>
          <a:p>
            <a:pPr lvl="2"/>
            <a:r>
              <a:rPr lang="en-US" dirty="0" smtClean="0">
                <a:ea typeface="Geneva"/>
              </a:rPr>
              <a:t>Carton break-downs and tracking info</a:t>
            </a:r>
          </a:p>
        </p:txBody>
      </p:sp>
      <p:sp>
        <p:nvSpPr>
          <p:cNvPr id="14338" name="Title Placeholder 3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6425" cy="989013"/>
          </a:xfrm>
        </p:spPr>
        <p:txBody>
          <a:bodyPr/>
          <a:lstStyle/>
          <a:p>
            <a:r>
              <a:rPr lang="en-US" dirty="0" smtClean="0">
                <a:ea typeface="Geneva"/>
              </a:rPr>
              <a:t>Shipping Example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5613" y="1447800"/>
            <a:ext cx="8231187" cy="4519613"/>
          </a:xfrm>
        </p:spPr>
        <p:txBody>
          <a:bodyPr/>
          <a:lstStyle/>
          <a:p>
            <a:r>
              <a:rPr lang="en-US" dirty="0" smtClean="0">
                <a:ea typeface="Geneva"/>
              </a:rPr>
              <a:t>Online portal allowing a buyer to dynamically build an estimate and get a quote</a:t>
            </a:r>
          </a:p>
          <a:p>
            <a:pPr lvl="1"/>
            <a:r>
              <a:rPr lang="en-US" dirty="0" smtClean="0">
                <a:ea typeface="Geneva"/>
              </a:rPr>
              <a:t>Create estimate and parts</a:t>
            </a:r>
          </a:p>
          <a:p>
            <a:pPr lvl="1"/>
            <a:r>
              <a:rPr lang="en-US" dirty="0" smtClean="0">
                <a:ea typeface="Geneva"/>
              </a:rPr>
              <a:t>Calculate estimate</a:t>
            </a:r>
          </a:p>
          <a:p>
            <a:pPr lvl="1"/>
            <a:r>
              <a:rPr lang="en-US" dirty="0" smtClean="0">
                <a:ea typeface="Geneva"/>
              </a:rPr>
              <a:t>Read estimate results</a:t>
            </a:r>
          </a:p>
          <a:p>
            <a:pPr lvl="1"/>
            <a:r>
              <a:rPr lang="en-US" dirty="0" smtClean="0">
                <a:ea typeface="Geneva"/>
              </a:rPr>
              <a:t>Convert estimate to job upon acceptance</a:t>
            </a:r>
          </a:p>
        </p:txBody>
      </p:sp>
      <p:sp>
        <p:nvSpPr>
          <p:cNvPr id="14338" name="Title Placeholder 3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6425" cy="989013"/>
          </a:xfrm>
        </p:spPr>
        <p:txBody>
          <a:bodyPr/>
          <a:lstStyle/>
          <a:p>
            <a:r>
              <a:rPr lang="en-US" dirty="0" smtClean="0">
                <a:ea typeface="Geneva"/>
              </a:rPr>
              <a:t>Self-Service Quoting Tool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69" name="Picture 5" descr="Yellow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100388"/>
            <a:ext cx="9144000" cy="3757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770" name="Rectangle 11"/>
          <p:cNvSpPr>
            <a:spLocks noChangeArrowheads="1"/>
          </p:cNvSpPr>
          <p:nvPr/>
        </p:nvSpPr>
        <p:spPr bwMode="white">
          <a:xfrm>
            <a:off x="0" y="0"/>
            <a:ext cx="9144000" cy="12954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85000"/>
              </a:lnSpc>
            </a:pPr>
            <a:endParaRPr lang="en-US"/>
          </a:p>
        </p:txBody>
      </p:sp>
      <p:sp>
        <p:nvSpPr>
          <p:cNvPr id="32771" name="Rectangle 6"/>
          <p:cNvSpPr>
            <a:spLocks noGrp="1" noChangeArrowheads="1"/>
          </p:cNvSpPr>
          <p:nvPr>
            <p:ph type="ctrTitle" idx="4294967295"/>
          </p:nvPr>
        </p:nvSpPr>
        <p:spPr bwMode="white">
          <a:xfrm>
            <a:off x="381000" y="1752600"/>
            <a:ext cx="8305800" cy="1731963"/>
          </a:xfrm>
        </p:spPr>
        <p:txBody>
          <a:bodyPr/>
          <a:lstStyle/>
          <a:p>
            <a:pPr algn="ctr"/>
            <a:r>
              <a:rPr lang="en-US" sz="4000" dirty="0" smtClean="0">
                <a:ea typeface="Geneva"/>
              </a:rPr>
              <a:t>What do I need to implement the API?</a:t>
            </a:r>
          </a:p>
        </p:txBody>
      </p:sp>
      <p:pic>
        <p:nvPicPr>
          <p:cNvPr id="32772" name="Picture 5" descr="stripe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3048000"/>
            <a:ext cx="9159875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5613" y="1447800"/>
            <a:ext cx="8231187" cy="4519613"/>
          </a:xfrm>
        </p:spPr>
        <p:txBody>
          <a:bodyPr/>
          <a:lstStyle/>
          <a:p>
            <a:r>
              <a:rPr lang="en-US" dirty="0" smtClean="0">
                <a:ea typeface="Geneva"/>
              </a:rPr>
              <a:t>Requires someone to build the integration</a:t>
            </a:r>
          </a:p>
          <a:p>
            <a:pPr lvl="1"/>
            <a:r>
              <a:rPr lang="en-US" dirty="0" smtClean="0">
                <a:ea typeface="Geneva"/>
              </a:rPr>
              <a:t>On staff developers</a:t>
            </a:r>
          </a:p>
          <a:p>
            <a:pPr lvl="1"/>
            <a:r>
              <a:rPr lang="en-US" dirty="0" smtClean="0">
                <a:ea typeface="Geneva"/>
              </a:rPr>
              <a:t>Contractor</a:t>
            </a:r>
          </a:p>
          <a:p>
            <a:pPr lvl="1"/>
            <a:r>
              <a:rPr lang="en-US" dirty="0" smtClean="0">
                <a:ea typeface="Geneva"/>
              </a:rPr>
              <a:t>3</a:t>
            </a:r>
            <a:r>
              <a:rPr lang="en-US" baseline="30000" dirty="0" smtClean="0">
                <a:ea typeface="Geneva"/>
              </a:rPr>
              <a:t>rd</a:t>
            </a:r>
            <a:r>
              <a:rPr lang="en-US" dirty="0" smtClean="0">
                <a:ea typeface="Geneva"/>
              </a:rPr>
              <a:t> party vendor</a:t>
            </a:r>
          </a:p>
          <a:p>
            <a:endParaRPr lang="en-US" dirty="0" smtClean="0">
              <a:ea typeface="Geneva"/>
            </a:endParaRPr>
          </a:p>
        </p:txBody>
      </p:sp>
      <p:sp>
        <p:nvSpPr>
          <p:cNvPr id="14338" name="Title Placeholder 3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6425" cy="989013"/>
          </a:xfrm>
        </p:spPr>
        <p:txBody>
          <a:bodyPr/>
          <a:lstStyle/>
          <a:p>
            <a:r>
              <a:rPr lang="en-US" dirty="0" smtClean="0">
                <a:ea typeface="Geneva"/>
              </a:rPr>
              <a:t>Development Capability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5613" y="1447800"/>
            <a:ext cx="8231187" cy="4519613"/>
          </a:xfrm>
        </p:spPr>
        <p:txBody>
          <a:bodyPr/>
          <a:lstStyle/>
          <a:p>
            <a:r>
              <a:rPr lang="en-US" dirty="0" smtClean="0">
                <a:ea typeface="Geneva"/>
              </a:rPr>
              <a:t>Understanding of the workflow</a:t>
            </a:r>
          </a:p>
          <a:p>
            <a:pPr lvl="1"/>
            <a:r>
              <a:rPr lang="en-US" dirty="0" smtClean="0">
                <a:ea typeface="Geneva"/>
              </a:rPr>
              <a:t>Big picture idea</a:t>
            </a:r>
          </a:p>
          <a:p>
            <a:pPr lvl="1"/>
            <a:r>
              <a:rPr lang="en-US" dirty="0" smtClean="0">
                <a:ea typeface="Geneva"/>
              </a:rPr>
              <a:t>Specification of integration points</a:t>
            </a:r>
          </a:p>
          <a:p>
            <a:r>
              <a:rPr lang="en-US" dirty="0" smtClean="0">
                <a:ea typeface="Geneva"/>
              </a:rPr>
              <a:t>Understanding of Pace tools</a:t>
            </a:r>
          </a:p>
          <a:p>
            <a:pPr lvl="1"/>
            <a:r>
              <a:rPr lang="en-US" dirty="0" smtClean="0">
                <a:ea typeface="Geneva"/>
              </a:rPr>
              <a:t>Object model browser</a:t>
            </a:r>
          </a:p>
          <a:p>
            <a:pPr lvl="1"/>
            <a:r>
              <a:rPr lang="en-US" dirty="0" smtClean="0">
                <a:ea typeface="Geneva"/>
              </a:rPr>
              <a:t>SDK and documentation</a:t>
            </a:r>
          </a:p>
          <a:p>
            <a:pPr lvl="1"/>
            <a:r>
              <a:rPr lang="en-US" dirty="0" smtClean="0">
                <a:ea typeface="Geneva"/>
              </a:rPr>
              <a:t>Knowledge of desired Pace processes to execute and corresponding business rules</a:t>
            </a:r>
          </a:p>
          <a:p>
            <a:endParaRPr lang="en-US" dirty="0" smtClean="0">
              <a:ea typeface="Geneva"/>
            </a:endParaRPr>
          </a:p>
        </p:txBody>
      </p:sp>
      <p:sp>
        <p:nvSpPr>
          <p:cNvPr id="14338" name="Title Placeholder 3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6425" cy="989013"/>
          </a:xfrm>
        </p:spPr>
        <p:txBody>
          <a:bodyPr/>
          <a:lstStyle/>
          <a:p>
            <a:r>
              <a:rPr lang="en-US" dirty="0" smtClean="0">
                <a:ea typeface="Geneva"/>
              </a:rPr>
              <a:t>Workflow and Pace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5613" y="1447800"/>
            <a:ext cx="8231187" cy="4519613"/>
          </a:xfrm>
        </p:spPr>
        <p:txBody>
          <a:bodyPr/>
          <a:lstStyle/>
          <a:p>
            <a:r>
              <a:rPr lang="en-US" dirty="0" smtClean="0">
                <a:ea typeface="Geneva"/>
              </a:rPr>
              <a:t>EFI supports our customer’s use of the API</a:t>
            </a:r>
          </a:p>
          <a:p>
            <a:pPr lvl="1"/>
            <a:r>
              <a:rPr lang="en-US" dirty="0" smtClean="0">
                <a:ea typeface="Geneva"/>
              </a:rPr>
              <a:t>Provide SDK and examples</a:t>
            </a:r>
          </a:p>
          <a:p>
            <a:pPr lvl="1"/>
            <a:r>
              <a:rPr lang="en-US" dirty="0" smtClean="0">
                <a:ea typeface="Geneva"/>
              </a:rPr>
              <a:t>Provide access between developers to solve technical issues quickly</a:t>
            </a:r>
          </a:p>
          <a:p>
            <a:pPr lvl="1"/>
            <a:r>
              <a:rPr lang="en-US" dirty="0" smtClean="0">
                <a:ea typeface="Geneva"/>
              </a:rPr>
              <a:t>Create any missing documentation or examples quickly and make available in SDK for future customer consumption</a:t>
            </a:r>
          </a:p>
          <a:p>
            <a:endParaRPr lang="en-US" dirty="0" smtClean="0">
              <a:ea typeface="Geneva"/>
            </a:endParaRPr>
          </a:p>
        </p:txBody>
      </p:sp>
      <p:sp>
        <p:nvSpPr>
          <p:cNvPr id="14338" name="Title Placeholder 3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6425" cy="989013"/>
          </a:xfrm>
        </p:spPr>
        <p:txBody>
          <a:bodyPr/>
          <a:lstStyle/>
          <a:p>
            <a:r>
              <a:rPr lang="en-US" dirty="0" smtClean="0">
                <a:ea typeface="Geneva"/>
              </a:rPr>
              <a:t>Support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69" name="Picture 5" descr="Yellow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100388"/>
            <a:ext cx="9144000" cy="3757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770" name="Rectangle 11"/>
          <p:cNvSpPr>
            <a:spLocks noChangeArrowheads="1"/>
          </p:cNvSpPr>
          <p:nvPr/>
        </p:nvSpPr>
        <p:spPr bwMode="white">
          <a:xfrm>
            <a:off x="0" y="0"/>
            <a:ext cx="9144000" cy="12954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85000"/>
              </a:lnSpc>
            </a:pPr>
            <a:endParaRPr lang="en-US"/>
          </a:p>
        </p:txBody>
      </p:sp>
      <p:sp>
        <p:nvSpPr>
          <p:cNvPr id="32771" name="Rectangle 6"/>
          <p:cNvSpPr>
            <a:spLocks noGrp="1" noChangeArrowheads="1"/>
          </p:cNvSpPr>
          <p:nvPr>
            <p:ph type="ctrTitle" idx="4294967295"/>
          </p:nvPr>
        </p:nvSpPr>
        <p:spPr bwMode="white">
          <a:xfrm>
            <a:off x="914400" y="1752600"/>
            <a:ext cx="7315200" cy="1731963"/>
          </a:xfrm>
        </p:spPr>
        <p:txBody>
          <a:bodyPr/>
          <a:lstStyle/>
          <a:p>
            <a:pPr algn="ctr"/>
            <a:r>
              <a:rPr lang="en-US" sz="4000" dirty="0" smtClean="0">
                <a:ea typeface="Geneva"/>
              </a:rPr>
              <a:t>Questions?</a:t>
            </a:r>
          </a:p>
        </p:txBody>
      </p:sp>
      <p:pic>
        <p:nvPicPr>
          <p:cNvPr id="32772" name="Picture 5" descr="stripe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3048000"/>
            <a:ext cx="9159875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809625" y="1828800"/>
            <a:ext cx="7762875" cy="1731963"/>
          </a:xfrm>
        </p:spPr>
        <p:txBody>
          <a:bodyPr/>
          <a:lstStyle/>
          <a:p>
            <a:r>
              <a:rPr lang="en-US" sz="3600" dirty="0" smtClean="0">
                <a:solidFill>
                  <a:schemeClr val="tx1"/>
                </a:solidFill>
                <a:ea typeface="Geneva"/>
              </a:rPr>
              <a:t>Thank you.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809625" y="4248150"/>
            <a:ext cx="5791200" cy="1268413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sz="2400" i="1" dirty="0" smtClean="0">
                <a:solidFill>
                  <a:srgbClr val="FFFFFF"/>
                </a:solidFill>
                <a:ea typeface="Geneva"/>
              </a:rPr>
              <a:t>John Q. Talker</a:t>
            </a:r>
          </a:p>
          <a:p>
            <a:pPr marL="0" indent="0">
              <a:buFont typeface="Wingdings" pitchFamily="2" charset="2"/>
              <a:buNone/>
            </a:pPr>
            <a:r>
              <a:rPr lang="en-US" sz="2400" i="1" dirty="0" smtClean="0">
                <a:solidFill>
                  <a:srgbClr val="FFFFFF"/>
                </a:solidFill>
                <a:ea typeface="Geneva"/>
              </a:rPr>
              <a:t>VP of Quotations</a:t>
            </a:r>
          </a:p>
        </p:txBody>
      </p:sp>
      <p:sp>
        <p:nvSpPr>
          <p:cNvPr id="36867" name="Line 12"/>
          <p:cNvSpPr>
            <a:spLocks noChangeShapeType="1"/>
          </p:cNvSpPr>
          <p:nvPr/>
        </p:nvSpPr>
        <p:spPr bwMode="auto">
          <a:xfrm>
            <a:off x="882650" y="4098925"/>
            <a:ext cx="7716838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nnect2010_Template">
  <a:themeElements>
    <a:clrScheme name="Connect">
      <a:dk1>
        <a:srgbClr val="000000"/>
      </a:dk1>
      <a:lt1>
        <a:srgbClr val="000000"/>
      </a:lt1>
      <a:dk2>
        <a:srgbClr val="000000"/>
      </a:dk2>
      <a:lt2>
        <a:srgbClr val="000000"/>
      </a:lt2>
      <a:accent1>
        <a:srgbClr val="0C2E82"/>
      </a:accent1>
      <a:accent2>
        <a:srgbClr val="950506"/>
      </a:accent2>
      <a:accent3>
        <a:srgbClr val="469C23"/>
      </a:accent3>
      <a:accent4>
        <a:srgbClr val="FFB300"/>
      </a:accent4>
      <a:accent5>
        <a:srgbClr val="FC7C00"/>
      </a:accent5>
      <a:accent6>
        <a:srgbClr val="2B85BB"/>
      </a:accent6>
      <a:hlink>
        <a:srgbClr val="FFB300"/>
      </a:hlink>
      <a:folHlink>
        <a:srgbClr val="469C23"/>
      </a:folHlink>
    </a:clrScheme>
    <a:fontScheme name="Connect">
      <a:majorFont>
        <a:latin typeface="Franklin Gothic Book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85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Arial" pitchFamily="6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85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Arial" pitchFamily="68" charset="0"/>
          </a:defRPr>
        </a:defPPr>
      </a:lstStyle>
    </a:lnDef>
  </a:objectDefaults>
  <a:extraClrSchemeLst>
    <a:extraClrScheme>
      <a:clrScheme name="Connect 2005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nect 2005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nect 2005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nect 2005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nect 2005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nect 2005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nect 2005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nect 2005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nect 2005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nect 2005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nect 2005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nect 2005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nect 2005 13">
        <a:dk1>
          <a:srgbClr val="000000"/>
        </a:dk1>
        <a:lt1>
          <a:srgbClr val="FFFFFF"/>
        </a:lt1>
        <a:dk2>
          <a:srgbClr val="0C2E82"/>
        </a:dk2>
        <a:lt2>
          <a:srgbClr val="525051"/>
        </a:lt2>
        <a:accent1>
          <a:srgbClr val="2B85BB"/>
        </a:accent1>
        <a:accent2>
          <a:srgbClr val="9B0033"/>
        </a:accent2>
        <a:accent3>
          <a:srgbClr val="FFFFFF"/>
        </a:accent3>
        <a:accent4>
          <a:srgbClr val="000000"/>
        </a:accent4>
        <a:accent5>
          <a:srgbClr val="ACC2DA"/>
        </a:accent5>
        <a:accent6>
          <a:srgbClr val="8C002D"/>
        </a:accent6>
        <a:hlink>
          <a:srgbClr val="FFB300"/>
        </a:hlink>
        <a:folHlink>
          <a:srgbClr val="0C2E8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nect 2005 14">
        <a:dk1>
          <a:srgbClr val="000000"/>
        </a:dk1>
        <a:lt1>
          <a:srgbClr val="FFFFFF"/>
        </a:lt1>
        <a:dk2>
          <a:srgbClr val="FFFFFF"/>
        </a:dk2>
        <a:lt2>
          <a:srgbClr val="808080"/>
        </a:lt2>
        <a:accent1>
          <a:srgbClr val="2B85BB"/>
        </a:accent1>
        <a:accent2>
          <a:srgbClr val="FFB300"/>
        </a:accent2>
        <a:accent3>
          <a:srgbClr val="FFFFFF"/>
        </a:accent3>
        <a:accent4>
          <a:srgbClr val="000000"/>
        </a:accent4>
        <a:accent5>
          <a:srgbClr val="ACC2DA"/>
        </a:accent5>
        <a:accent6>
          <a:srgbClr val="E7A200"/>
        </a:accent6>
        <a:hlink>
          <a:srgbClr val="9B0033"/>
        </a:hlink>
        <a:folHlink>
          <a:srgbClr val="0C2E8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nect 2005 15">
        <a:dk1>
          <a:srgbClr val="000000"/>
        </a:dk1>
        <a:lt1>
          <a:srgbClr val="FFFFFF"/>
        </a:lt1>
        <a:dk2>
          <a:srgbClr val="FFFFFF"/>
        </a:dk2>
        <a:lt2>
          <a:srgbClr val="525051"/>
        </a:lt2>
        <a:accent1>
          <a:srgbClr val="0C2E82"/>
        </a:accent1>
        <a:accent2>
          <a:srgbClr val="9B0033"/>
        </a:accent2>
        <a:accent3>
          <a:srgbClr val="FFFFFF"/>
        </a:accent3>
        <a:accent4>
          <a:srgbClr val="000000"/>
        </a:accent4>
        <a:accent5>
          <a:srgbClr val="AAADC1"/>
        </a:accent5>
        <a:accent6>
          <a:srgbClr val="8C002D"/>
        </a:accent6>
        <a:hlink>
          <a:srgbClr val="FFB300"/>
        </a:hlink>
        <a:folHlink>
          <a:srgbClr val="469C2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nect 2005 16">
        <a:dk1>
          <a:srgbClr val="000000"/>
        </a:dk1>
        <a:lt1>
          <a:srgbClr val="FFFFFF"/>
        </a:lt1>
        <a:dk2>
          <a:srgbClr val="000000"/>
        </a:dk2>
        <a:lt2>
          <a:srgbClr val="525051"/>
        </a:lt2>
        <a:accent1>
          <a:srgbClr val="0C2E82"/>
        </a:accent1>
        <a:accent2>
          <a:srgbClr val="9B0033"/>
        </a:accent2>
        <a:accent3>
          <a:srgbClr val="FFFFFF"/>
        </a:accent3>
        <a:accent4>
          <a:srgbClr val="000000"/>
        </a:accent4>
        <a:accent5>
          <a:srgbClr val="AAADC1"/>
        </a:accent5>
        <a:accent6>
          <a:srgbClr val="8C002D"/>
        </a:accent6>
        <a:hlink>
          <a:srgbClr val="FFB300"/>
        </a:hlink>
        <a:folHlink>
          <a:srgbClr val="469C2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Connect">
    <a:dk1>
      <a:srgbClr val="000000"/>
    </a:dk1>
    <a:lt1>
      <a:srgbClr val="000000"/>
    </a:lt1>
    <a:dk2>
      <a:srgbClr val="000000"/>
    </a:dk2>
    <a:lt2>
      <a:srgbClr val="000000"/>
    </a:lt2>
    <a:accent1>
      <a:srgbClr val="0C2E82"/>
    </a:accent1>
    <a:accent2>
      <a:srgbClr val="950506"/>
    </a:accent2>
    <a:accent3>
      <a:srgbClr val="469C23"/>
    </a:accent3>
    <a:accent4>
      <a:srgbClr val="FFB300"/>
    </a:accent4>
    <a:accent5>
      <a:srgbClr val="FC7C00"/>
    </a:accent5>
    <a:accent6>
      <a:srgbClr val="2B85BB"/>
    </a:accent6>
    <a:hlink>
      <a:srgbClr val="FFB300"/>
    </a:hlink>
    <a:folHlink>
      <a:srgbClr val="469C23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5243</TotalTime>
  <Words>878</Words>
  <Application>Microsoft Macintosh PowerPoint</Application>
  <PresentationFormat>On-screen Show (4:3)</PresentationFormat>
  <Paragraphs>206</Paragraphs>
  <Slides>32</Slides>
  <Notes>32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Connect2010_Template</vt:lpstr>
      <vt:lpstr>Understanding the Pace API</vt:lpstr>
      <vt:lpstr>Agenda</vt:lpstr>
      <vt:lpstr>The Pace API</vt:lpstr>
      <vt:lpstr>API</vt:lpstr>
      <vt:lpstr>Pace API</vt:lpstr>
      <vt:lpstr>Object Access</vt:lpstr>
      <vt:lpstr>Object Access</vt:lpstr>
      <vt:lpstr>Object Access</vt:lpstr>
      <vt:lpstr>Process Execution</vt:lpstr>
      <vt:lpstr>Process Execution</vt:lpstr>
      <vt:lpstr>Process Execution</vt:lpstr>
      <vt:lpstr>Process Execution</vt:lpstr>
      <vt:lpstr>Invoke Actions</vt:lpstr>
      <vt:lpstr>Attachments</vt:lpstr>
      <vt:lpstr>System Inspection</vt:lpstr>
      <vt:lpstr>System Inspection</vt:lpstr>
      <vt:lpstr>Other Pace APIs</vt:lpstr>
      <vt:lpstr>API SDK</vt:lpstr>
      <vt:lpstr>Why do I need the API?</vt:lpstr>
      <vt:lpstr>Control Your Integrations</vt:lpstr>
      <vt:lpstr>Custom Solutions</vt:lpstr>
      <vt:lpstr>3rd Party Solutions</vt:lpstr>
      <vt:lpstr>API Examples</vt:lpstr>
      <vt:lpstr>Simple eCommerce</vt:lpstr>
      <vt:lpstr>Shipping Example</vt:lpstr>
      <vt:lpstr>Self-Service Quoting Tool</vt:lpstr>
      <vt:lpstr>What do I need to implement the API?</vt:lpstr>
      <vt:lpstr>Development Capability</vt:lpstr>
      <vt:lpstr>Workflow and Pace</vt:lpstr>
      <vt:lpstr>Support</vt:lpstr>
      <vt:lpstr>Questions?</vt:lpstr>
      <vt:lpstr>Thank you.</vt:lpstr>
    </vt:vector>
  </TitlesOfParts>
  <Company>EFI</Company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Title Slide</dc:title>
  <dc:creator>IS&amp;T</dc:creator>
  <cp:lastModifiedBy>raghaves</cp:lastModifiedBy>
  <cp:revision>66</cp:revision>
  <dcterms:created xsi:type="dcterms:W3CDTF">2010-08-05T11:44:45Z</dcterms:created>
  <dcterms:modified xsi:type="dcterms:W3CDTF">2012-08-09T12:34:06Z</dcterms:modified>
</cp:coreProperties>
</file>